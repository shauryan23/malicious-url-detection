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Lora"/>
      <p:regular r:id="rId21"/>
      <p:bold r:id="rId22"/>
      <p:italic r:id="rId23"/>
      <p:boldItalic r:id="rId24"/>
    </p:embeddedFont>
    <p:embeddedFont>
      <p:font typeface="Old Standard TT"/>
      <p:regular r:id="rId25"/>
      <p:bold r:id="rId26"/>
      <p: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6CAFCD-A7A8-427E-AB1E-A36ABEC1CF4C}">
  <a:tblStyle styleId="{B76CAFCD-A7A8-427E-AB1E-A36ABEC1CF4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Lora-bold.fntdata"/><Relationship Id="rId21" Type="http://schemas.openxmlformats.org/officeDocument/2006/relationships/font" Target="fonts/Lora-regular.fntdata"/><Relationship Id="rId24" Type="http://schemas.openxmlformats.org/officeDocument/2006/relationships/font" Target="fonts/Lora-boldItalic.fntdata"/><Relationship Id="rId23" Type="http://schemas.openxmlformats.org/officeDocument/2006/relationships/font" Target="fonts/Lora-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ldStandardTT-bold.fntdata"/><Relationship Id="rId25" Type="http://schemas.openxmlformats.org/officeDocument/2006/relationships/font" Target="fonts/OldStandardTT-regular.fntdata"/><Relationship Id="rId27" Type="http://schemas.openxmlformats.org/officeDocument/2006/relationships/font" Target="fonts/OldStandardT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400"/>
              </a:spcBef>
              <a:spcAft>
                <a:spcPts val="0"/>
              </a:spcAft>
              <a:buNone/>
            </a:pPr>
            <a:r>
              <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sz="1200">
              <a:solidFill>
                <a:schemeClr val="dk1"/>
              </a:solidFill>
            </a:endParaRPr>
          </a:p>
          <a:p>
            <a:pPr indent="0" lvl="0" marL="0" rtl="0" algn="l">
              <a:spcBef>
                <a:spcPts val="1400"/>
              </a:spcBef>
              <a:spcAft>
                <a:spcPts val="0"/>
              </a:spcAft>
              <a:buNone/>
            </a:pPr>
            <a:r>
              <a:t/>
            </a:r>
            <a:endParaRPr/>
          </a:p>
        </p:txBody>
      </p:sp>
      <p:sp>
        <p:nvSpPr>
          <p:cNvPr id="131" name="Google Shape;13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f6586cefe6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f6586cefe6_2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00c5d7b31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00c5d7b3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fad01564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fad015642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1" name="Shape 11"/>
        <p:cNvGrpSpPr/>
        <p:nvPr/>
      </p:nvGrpSpPr>
      <p:grpSpPr>
        <a:xfrm>
          <a:off x="0" y="0"/>
          <a:ext cx="0" cy="0"/>
          <a:chOff x="0" y="0"/>
          <a:chExt cx="0" cy="0"/>
        </a:xfrm>
      </p:grpSpPr>
      <p:sp>
        <p:nvSpPr>
          <p:cNvPr id="12" name="Google Shape;12;p2"/>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 name="Shape 14"/>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5" name="Shape 15"/>
        <p:cNvGrpSpPr/>
        <p:nvPr/>
      </p:nvGrpSpPr>
      <p:grpSpPr>
        <a:xfrm>
          <a:off x="0" y="0"/>
          <a:ext cx="0" cy="0"/>
          <a:chOff x="0" y="0"/>
          <a:chExt cx="0" cy="0"/>
        </a:xfrm>
      </p:grpSpPr>
      <p:sp>
        <p:nvSpPr>
          <p:cNvPr id="16" name="Google Shape;16;p4"/>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 name="Shape 18"/>
        <p:cNvGrpSpPr/>
        <p:nvPr/>
      </p:nvGrpSpPr>
      <p:grpSpPr>
        <a:xfrm>
          <a:off x="0" y="0"/>
          <a:ext cx="0" cy="0"/>
          <a:chOff x="0" y="0"/>
          <a:chExt cx="0" cy="0"/>
        </a:xfrm>
      </p:grpSpPr>
      <p:sp>
        <p:nvSpPr>
          <p:cNvPr id="19" name="Google Shape;19;p5"/>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 name="Shape 24"/>
        <p:cNvGrpSpPr/>
        <p:nvPr/>
      </p:nvGrpSpPr>
      <p:grpSpPr>
        <a:xfrm>
          <a:off x="0" y="0"/>
          <a:ext cx="0" cy="0"/>
          <a:chOff x="0" y="0"/>
          <a:chExt cx="0" cy="0"/>
        </a:xfrm>
      </p:grpSpPr>
      <p:sp>
        <p:nvSpPr>
          <p:cNvPr id="25" name="Google Shape;25;p7"/>
          <p:cNvSpPr txBox="1"/>
          <p:nvPr>
            <p:ph idx="1" type="subTitle"/>
          </p:nvPr>
        </p:nvSpPr>
        <p:spPr>
          <a:xfrm>
            <a:off x="512640" y="1893240"/>
            <a:ext cx="8118360" cy="70585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6" name="Shape 26"/>
        <p:cNvGrpSpPr/>
        <p:nvPr/>
      </p:nvGrpSpPr>
      <p:grpSpPr>
        <a:xfrm>
          <a:off x="0" y="0"/>
          <a:ext cx="0" cy="0"/>
          <a:chOff x="0" y="0"/>
          <a:chExt cx="0" cy="0"/>
        </a:xfrm>
      </p:grpSpPr>
      <p:sp>
        <p:nvSpPr>
          <p:cNvPr id="27" name="Google Shape;27;p8"/>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1" name="Shape 31"/>
        <p:cNvGrpSpPr/>
        <p:nvPr/>
      </p:nvGrpSpPr>
      <p:grpSpPr>
        <a:xfrm>
          <a:off x="0" y="0"/>
          <a:ext cx="0" cy="0"/>
          <a:chOff x="0" y="0"/>
          <a:chExt cx="0" cy="0"/>
        </a:xfrm>
      </p:grpSpPr>
      <p:sp>
        <p:nvSpPr>
          <p:cNvPr id="32" name="Google Shape;32;p9"/>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9"/>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6" name="Shape 36"/>
        <p:cNvGrpSpPr/>
        <p:nvPr/>
      </p:nvGrpSpPr>
      <p:grpSpPr>
        <a:xfrm>
          <a:off x="0" y="0"/>
          <a:ext cx="0" cy="0"/>
          <a:chOff x="0" y="0"/>
          <a:chExt cx="0" cy="0"/>
        </a:xfrm>
      </p:grpSpPr>
      <p:sp>
        <p:nvSpPr>
          <p:cNvPr id="37" name="Google Shape;37;p10"/>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1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10"/>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 name="Shape 41"/>
        <p:cNvGrpSpPr/>
        <p:nvPr/>
      </p:nvGrpSpPr>
      <p:grpSpPr>
        <a:xfrm>
          <a:off x="0" y="0"/>
          <a:ext cx="0" cy="0"/>
          <a:chOff x="0" y="0"/>
          <a:chExt cx="0" cy="0"/>
        </a:xfrm>
      </p:grpSpPr>
      <p:sp>
        <p:nvSpPr>
          <p:cNvPr id="42" name="Google Shape;42;p11"/>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11"/>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5" name="Shape 45"/>
        <p:cNvGrpSpPr/>
        <p:nvPr/>
      </p:nvGrpSpPr>
      <p:grpSpPr>
        <a:xfrm>
          <a:off x="0" y="0"/>
          <a:ext cx="0" cy="0"/>
          <a:chOff x="0" y="0"/>
          <a:chExt cx="0" cy="0"/>
        </a:xfrm>
      </p:grpSpPr>
      <p:sp>
        <p:nvSpPr>
          <p:cNvPr id="46" name="Google Shape;46;p12"/>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1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12"/>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1" name="Shape 51"/>
        <p:cNvGrpSpPr/>
        <p:nvPr/>
      </p:nvGrpSpPr>
      <p:grpSpPr>
        <a:xfrm>
          <a:off x="0" y="0"/>
          <a:ext cx="0" cy="0"/>
          <a:chOff x="0" y="0"/>
          <a:chExt cx="0" cy="0"/>
        </a:xfrm>
      </p:grpSpPr>
      <p:sp>
        <p:nvSpPr>
          <p:cNvPr id="52" name="Google Shape;52;p13"/>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3"/>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13"/>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13"/>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3"/>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4" name="Shape 64"/>
        <p:cNvGrpSpPr/>
        <p:nvPr/>
      </p:nvGrpSpPr>
      <p:grpSpPr>
        <a:xfrm>
          <a:off x="0" y="0"/>
          <a:ext cx="0" cy="0"/>
          <a:chOff x="0" y="0"/>
          <a:chExt cx="0" cy="0"/>
        </a:xfrm>
      </p:grpSpPr>
      <p:sp>
        <p:nvSpPr>
          <p:cNvPr id="65" name="Google Shape;65;p15"/>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8" name="Shape 68"/>
        <p:cNvGrpSpPr/>
        <p:nvPr/>
      </p:nvGrpSpPr>
      <p:grpSpPr>
        <a:xfrm>
          <a:off x="0" y="0"/>
          <a:ext cx="0" cy="0"/>
          <a:chOff x="0" y="0"/>
          <a:chExt cx="0" cy="0"/>
        </a:xfrm>
      </p:grpSpPr>
      <p:sp>
        <p:nvSpPr>
          <p:cNvPr id="69" name="Google Shape;69;p17"/>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7"/>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1" name="Shape 71"/>
        <p:cNvGrpSpPr/>
        <p:nvPr/>
      </p:nvGrpSpPr>
      <p:grpSpPr>
        <a:xfrm>
          <a:off x="0" y="0"/>
          <a:ext cx="0" cy="0"/>
          <a:chOff x="0" y="0"/>
          <a:chExt cx="0" cy="0"/>
        </a:xfrm>
      </p:grpSpPr>
      <p:sp>
        <p:nvSpPr>
          <p:cNvPr id="72" name="Google Shape;72;p18"/>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4" name="Google Shape;74;p1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77" name="Shape 77"/>
        <p:cNvGrpSpPr/>
        <p:nvPr/>
      </p:nvGrpSpPr>
      <p:grpSpPr>
        <a:xfrm>
          <a:off x="0" y="0"/>
          <a:ext cx="0" cy="0"/>
          <a:chOff x="0" y="0"/>
          <a:chExt cx="0" cy="0"/>
        </a:xfrm>
      </p:grpSpPr>
      <p:sp>
        <p:nvSpPr>
          <p:cNvPr id="78" name="Google Shape;78;p20"/>
          <p:cNvSpPr txBox="1"/>
          <p:nvPr>
            <p:ph idx="1" type="subTitle"/>
          </p:nvPr>
        </p:nvSpPr>
        <p:spPr>
          <a:xfrm>
            <a:off x="512640" y="1893240"/>
            <a:ext cx="8118360" cy="70585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79" name="Shape 79"/>
        <p:cNvGrpSpPr/>
        <p:nvPr/>
      </p:nvGrpSpPr>
      <p:grpSpPr>
        <a:xfrm>
          <a:off x="0" y="0"/>
          <a:ext cx="0" cy="0"/>
          <a:chOff x="0" y="0"/>
          <a:chExt cx="0" cy="0"/>
        </a:xfrm>
      </p:grpSpPr>
      <p:sp>
        <p:nvSpPr>
          <p:cNvPr id="80" name="Google Shape;80;p21"/>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2" name="Google Shape;82;p2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3" name="Google Shape;83;p2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4" name="Shape 84"/>
        <p:cNvGrpSpPr/>
        <p:nvPr/>
      </p:nvGrpSpPr>
      <p:grpSpPr>
        <a:xfrm>
          <a:off x="0" y="0"/>
          <a:ext cx="0" cy="0"/>
          <a:chOff x="0" y="0"/>
          <a:chExt cx="0" cy="0"/>
        </a:xfrm>
      </p:grpSpPr>
      <p:sp>
        <p:nvSpPr>
          <p:cNvPr id="85" name="Google Shape;85;p22"/>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2"/>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7" name="Google Shape;87;p2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8" name="Google Shape;88;p22"/>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89" name="Shape 89"/>
        <p:cNvGrpSpPr/>
        <p:nvPr/>
      </p:nvGrpSpPr>
      <p:grpSpPr>
        <a:xfrm>
          <a:off x="0" y="0"/>
          <a:ext cx="0" cy="0"/>
          <a:chOff x="0" y="0"/>
          <a:chExt cx="0" cy="0"/>
        </a:xfrm>
      </p:grpSpPr>
      <p:sp>
        <p:nvSpPr>
          <p:cNvPr id="90" name="Google Shape;90;p23"/>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2" name="Google Shape;92;p2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3" name="Google Shape;93;p23"/>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4" name="Shape 94"/>
        <p:cNvGrpSpPr/>
        <p:nvPr/>
      </p:nvGrpSpPr>
      <p:grpSpPr>
        <a:xfrm>
          <a:off x="0" y="0"/>
          <a:ext cx="0" cy="0"/>
          <a:chOff x="0" y="0"/>
          <a:chExt cx="0" cy="0"/>
        </a:xfrm>
      </p:grpSpPr>
      <p:sp>
        <p:nvSpPr>
          <p:cNvPr id="95" name="Google Shape;95;p24"/>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4"/>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7" name="Google Shape;97;p24"/>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98" name="Shape 98"/>
        <p:cNvGrpSpPr/>
        <p:nvPr/>
      </p:nvGrpSpPr>
      <p:grpSpPr>
        <a:xfrm>
          <a:off x="0" y="0"/>
          <a:ext cx="0" cy="0"/>
          <a:chOff x="0" y="0"/>
          <a:chExt cx="0" cy="0"/>
        </a:xfrm>
      </p:grpSpPr>
      <p:sp>
        <p:nvSpPr>
          <p:cNvPr id="99" name="Google Shape;99;p25"/>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1" name="Google Shape;101;p2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2" name="Google Shape;102;p25"/>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3" name="Google Shape;103;p25"/>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4" name="Shape 104"/>
        <p:cNvGrpSpPr/>
        <p:nvPr/>
      </p:nvGrpSpPr>
      <p:grpSpPr>
        <a:xfrm>
          <a:off x="0" y="0"/>
          <a:ext cx="0" cy="0"/>
          <a:chOff x="0" y="0"/>
          <a:chExt cx="0" cy="0"/>
        </a:xfrm>
      </p:grpSpPr>
      <p:sp>
        <p:nvSpPr>
          <p:cNvPr id="105" name="Google Shape;105;p26"/>
          <p:cNvSpPr txBox="1"/>
          <p:nvPr>
            <p:ph type="title"/>
          </p:nvPr>
        </p:nvSpPr>
        <p:spPr>
          <a:xfrm>
            <a:off x="512640" y="1893240"/>
            <a:ext cx="8118360" cy="1522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6"/>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7" name="Google Shape;107;p26"/>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8" name="Google Shape;108;p26"/>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9" name="Google Shape;109;p26"/>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26"/>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1" name="Google Shape;111;p26"/>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 name="Shape 5"/>
        <p:cNvGrpSpPr/>
        <p:nvPr/>
      </p:nvGrpSpPr>
      <p:grpSpPr>
        <a:xfrm>
          <a:off x="0" y="0"/>
          <a:ext cx="0" cy="0"/>
          <a:chOff x="0" y="0"/>
          <a:chExt cx="0" cy="0"/>
        </a:xfrm>
      </p:grpSpPr>
      <p:sp>
        <p:nvSpPr>
          <p:cNvPr id="6" name="Google Shape;6;p1"/>
          <p:cNvSpPr/>
          <p:nvPr/>
        </p:nvSpPr>
        <p:spPr>
          <a:xfrm>
            <a:off x="0" y="0"/>
            <a:ext cx="9143640" cy="171144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1"/>
          <p:cNvSpPr/>
          <p:nvPr/>
        </p:nvSpPr>
        <p:spPr>
          <a:xfrm>
            <a:off x="641880" y="3597480"/>
            <a:ext cx="389880" cy="360"/>
          </a:xfrm>
          <a:custGeom>
            <a:rect b="b" l="l" r="r" t="t"/>
            <a:pathLst>
              <a:path extrusionOk="0" h="21600" w="21600">
                <a:moveTo>
                  <a:pt x="0" y="0"/>
                </a:moveTo>
                <a:lnTo>
                  <a:pt x="21600" y="21600"/>
                </a:lnTo>
              </a:path>
            </a:pathLst>
          </a:custGeom>
          <a:noFill/>
          <a:ln cap="flat" cmpd="sng" w="28425">
            <a:solidFill>
              <a:schemeClr val="accent1"/>
            </a:solidFill>
            <a:prstDash val="solid"/>
            <a:round/>
            <a:headEnd len="sm" w="sm" type="none"/>
            <a:tailEnd len="sm" w="sm" type="none"/>
          </a:ln>
        </p:spPr>
      </p:sp>
      <p:sp>
        <p:nvSpPr>
          <p:cNvPr id="8" name="Google Shape;8;p1"/>
          <p:cNvSpPr txBox="1"/>
          <p:nvPr>
            <p:ph type="title"/>
          </p:nvPr>
        </p:nvSpPr>
        <p:spPr>
          <a:xfrm>
            <a:off x="512640" y="1893240"/>
            <a:ext cx="8118360" cy="152244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 name="Google Shape;9;p1"/>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FFFBF0"/>
                </a:solidFill>
                <a:latin typeface="Old Standard TT"/>
                <a:ea typeface="Old Standard TT"/>
                <a:cs typeface="Old Standard TT"/>
                <a:sym typeface="Old Standard TT"/>
              </a:defRPr>
            </a:lvl1pPr>
            <a:lvl2pPr indent="0" lvl="1" marL="0" marR="0" rtl="0" algn="r">
              <a:lnSpc>
                <a:spcPct val="100000"/>
              </a:lnSpc>
              <a:spcBef>
                <a:spcPts val="0"/>
              </a:spcBef>
              <a:buNone/>
              <a:defRPr b="0" i="0" sz="1000" u="none" cap="none" strike="noStrike">
                <a:solidFill>
                  <a:srgbClr val="FFFBF0"/>
                </a:solidFill>
                <a:latin typeface="Old Standard TT"/>
                <a:ea typeface="Old Standard TT"/>
                <a:cs typeface="Old Standard TT"/>
                <a:sym typeface="Old Standard TT"/>
              </a:defRPr>
            </a:lvl2pPr>
            <a:lvl3pPr indent="0" lvl="2" marL="0" marR="0" rtl="0" algn="r">
              <a:lnSpc>
                <a:spcPct val="100000"/>
              </a:lnSpc>
              <a:spcBef>
                <a:spcPts val="0"/>
              </a:spcBef>
              <a:buNone/>
              <a:defRPr b="0" i="0" sz="1000" u="none" cap="none" strike="noStrike">
                <a:solidFill>
                  <a:srgbClr val="FFFBF0"/>
                </a:solidFill>
                <a:latin typeface="Old Standard TT"/>
                <a:ea typeface="Old Standard TT"/>
                <a:cs typeface="Old Standard TT"/>
                <a:sym typeface="Old Standard TT"/>
              </a:defRPr>
            </a:lvl3pPr>
            <a:lvl4pPr indent="0" lvl="3" marL="0" marR="0" rtl="0" algn="r">
              <a:lnSpc>
                <a:spcPct val="100000"/>
              </a:lnSpc>
              <a:spcBef>
                <a:spcPts val="0"/>
              </a:spcBef>
              <a:buNone/>
              <a:defRPr b="0" i="0" sz="1000" u="none" cap="none" strike="noStrike">
                <a:solidFill>
                  <a:srgbClr val="FFFBF0"/>
                </a:solidFill>
                <a:latin typeface="Old Standard TT"/>
                <a:ea typeface="Old Standard TT"/>
                <a:cs typeface="Old Standard TT"/>
                <a:sym typeface="Old Standard TT"/>
              </a:defRPr>
            </a:lvl4pPr>
            <a:lvl5pPr indent="0" lvl="4" marL="0" marR="0" rtl="0" algn="r">
              <a:lnSpc>
                <a:spcPct val="100000"/>
              </a:lnSpc>
              <a:spcBef>
                <a:spcPts val="0"/>
              </a:spcBef>
              <a:buNone/>
              <a:defRPr b="0" i="0" sz="1000" u="none" cap="none" strike="noStrike">
                <a:solidFill>
                  <a:srgbClr val="FFFBF0"/>
                </a:solidFill>
                <a:latin typeface="Old Standard TT"/>
                <a:ea typeface="Old Standard TT"/>
                <a:cs typeface="Old Standard TT"/>
                <a:sym typeface="Old Standard TT"/>
              </a:defRPr>
            </a:lvl5pPr>
            <a:lvl6pPr indent="0" lvl="5" marL="0" marR="0" rtl="0" algn="r">
              <a:lnSpc>
                <a:spcPct val="100000"/>
              </a:lnSpc>
              <a:spcBef>
                <a:spcPts val="0"/>
              </a:spcBef>
              <a:buNone/>
              <a:defRPr b="0" i="0" sz="1000" u="none" cap="none" strike="noStrike">
                <a:solidFill>
                  <a:srgbClr val="FFFBF0"/>
                </a:solidFill>
                <a:latin typeface="Old Standard TT"/>
                <a:ea typeface="Old Standard TT"/>
                <a:cs typeface="Old Standard TT"/>
                <a:sym typeface="Old Standard TT"/>
              </a:defRPr>
            </a:lvl6pPr>
            <a:lvl7pPr indent="0" lvl="6" marL="0" marR="0" rtl="0" algn="r">
              <a:lnSpc>
                <a:spcPct val="100000"/>
              </a:lnSpc>
              <a:spcBef>
                <a:spcPts val="0"/>
              </a:spcBef>
              <a:buNone/>
              <a:defRPr b="0" i="0" sz="1000" u="none" cap="none" strike="noStrike">
                <a:solidFill>
                  <a:srgbClr val="FFFBF0"/>
                </a:solidFill>
                <a:latin typeface="Old Standard TT"/>
                <a:ea typeface="Old Standard TT"/>
                <a:cs typeface="Old Standard TT"/>
                <a:sym typeface="Old Standard TT"/>
              </a:defRPr>
            </a:lvl7pPr>
            <a:lvl8pPr indent="0" lvl="7" marL="0" marR="0" rtl="0" algn="r">
              <a:lnSpc>
                <a:spcPct val="100000"/>
              </a:lnSpc>
              <a:spcBef>
                <a:spcPts val="0"/>
              </a:spcBef>
              <a:buNone/>
              <a:defRPr b="0" i="0" sz="1000" u="none" cap="none" strike="noStrike">
                <a:solidFill>
                  <a:srgbClr val="FFFBF0"/>
                </a:solidFill>
                <a:latin typeface="Old Standard TT"/>
                <a:ea typeface="Old Standard TT"/>
                <a:cs typeface="Old Standard TT"/>
                <a:sym typeface="Old Standard TT"/>
              </a:defRPr>
            </a:lvl8pPr>
            <a:lvl9pPr indent="0" lvl="8" marL="0" marR="0" rtl="0" algn="r">
              <a:lnSpc>
                <a:spcPct val="100000"/>
              </a:lnSpc>
              <a:spcBef>
                <a:spcPts val="0"/>
              </a:spcBef>
              <a:buNone/>
              <a:defRPr b="0" i="0" sz="1000" u="none" cap="none" strike="noStrike">
                <a:solidFill>
                  <a:srgbClr val="FFFBF0"/>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solidFill>
                <a:srgbClr val="000000"/>
              </a:solidFill>
              <a:latin typeface="Times New Roman"/>
              <a:ea typeface="Times New Roman"/>
              <a:cs typeface="Times New Roman"/>
              <a:sym typeface="Times New Roman"/>
            </a:endParaRPr>
          </a:p>
        </p:txBody>
      </p:sp>
      <p:sp>
        <p:nvSpPr>
          <p:cNvPr id="10" name="Google Shape;10;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F0"/>
        </a:solidFill>
      </p:bgPr>
    </p:bg>
    <p:spTree>
      <p:nvGrpSpPr>
        <p:cNvPr id="59" name="Shape 59"/>
        <p:cNvGrpSpPr/>
        <p:nvPr/>
      </p:nvGrpSpPr>
      <p:grpSpPr>
        <a:xfrm>
          <a:off x="0" y="0"/>
          <a:ext cx="0" cy="0"/>
          <a:chOff x="0" y="0"/>
          <a:chExt cx="0" cy="0"/>
        </a:xfrm>
      </p:grpSpPr>
      <p:sp>
        <p:nvSpPr>
          <p:cNvPr id="60" name="Google Shape;60;p14"/>
          <p:cNvSpPr/>
          <p:nvPr/>
        </p:nvSpPr>
        <p:spPr>
          <a:xfrm>
            <a:off x="0" y="5045760"/>
            <a:ext cx="9143640" cy="975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txBox="1"/>
          <p:nvPr>
            <p:ph type="title"/>
          </p:nvPr>
        </p:nvSpPr>
        <p:spPr>
          <a:xfrm>
            <a:off x="311760" y="444960"/>
            <a:ext cx="8520120" cy="61272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2" name="Google Shape;62;p14"/>
          <p:cNvSpPr txBox="1"/>
          <p:nvPr>
            <p:ph idx="1" type="body"/>
          </p:nvPr>
        </p:nvSpPr>
        <p:spPr>
          <a:xfrm>
            <a:off x="311760" y="1171440"/>
            <a:ext cx="8520120" cy="339696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3" name="Google Shape;63;p14"/>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000000"/>
                </a:solidFill>
                <a:latin typeface="Old Standard TT"/>
                <a:ea typeface="Old Standard TT"/>
                <a:cs typeface="Old Standard TT"/>
                <a:sym typeface="Old Standard TT"/>
              </a:defRPr>
            </a:lvl1pPr>
            <a:lvl2pPr indent="0" lvl="1" marL="0" marR="0" rtl="0" algn="r">
              <a:lnSpc>
                <a:spcPct val="100000"/>
              </a:lnSpc>
              <a:spcBef>
                <a:spcPts val="0"/>
              </a:spcBef>
              <a:buNone/>
              <a:defRPr b="0" i="0" sz="1000" u="none" cap="none" strike="noStrike">
                <a:solidFill>
                  <a:srgbClr val="000000"/>
                </a:solidFill>
                <a:latin typeface="Old Standard TT"/>
                <a:ea typeface="Old Standard TT"/>
                <a:cs typeface="Old Standard TT"/>
                <a:sym typeface="Old Standard TT"/>
              </a:defRPr>
            </a:lvl2pPr>
            <a:lvl3pPr indent="0" lvl="2" marL="0" marR="0" rtl="0" algn="r">
              <a:lnSpc>
                <a:spcPct val="100000"/>
              </a:lnSpc>
              <a:spcBef>
                <a:spcPts val="0"/>
              </a:spcBef>
              <a:buNone/>
              <a:defRPr b="0" i="0" sz="1000" u="none" cap="none" strike="noStrike">
                <a:solidFill>
                  <a:srgbClr val="000000"/>
                </a:solidFill>
                <a:latin typeface="Old Standard TT"/>
                <a:ea typeface="Old Standard TT"/>
                <a:cs typeface="Old Standard TT"/>
                <a:sym typeface="Old Standard TT"/>
              </a:defRPr>
            </a:lvl3pPr>
            <a:lvl4pPr indent="0" lvl="3" marL="0" marR="0" rtl="0" algn="r">
              <a:lnSpc>
                <a:spcPct val="100000"/>
              </a:lnSpc>
              <a:spcBef>
                <a:spcPts val="0"/>
              </a:spcBef>
              <a:buNone/>
              <a:defRPr b="0" i="0" sz="1000" u="none" cap="none" strike="noStrike">
                <a:solidFill>
                  <a:srgbClr val="000000"/>
                </a:solidFill>
                <a:latin typeface="Old Standard TT"/>
                <a:ea typeface="Old Standard TT"/>
                <a:cs typeface="Old Standard TT"/>
                <a:sym typeface="Old Standard TT"/>
              </a:defRPr>
            </a:lvl4pPr>
            <a:lvl5pPr indent="0" lvl="4" marL="0" marR="0" rtl="0" algn="r">
              <a:lnSpc>
                <a:spcPct val="100000"/>
              </a:lnSpc>
              <a:spcBef>
                <a:spcPts val="0"/>
              </a:spcBef>
              <a:buNone/>
              <a:defRPr b="0" i="0" sz="1000" u="none" cap="none" strike="noStrike">
                <a:solidFill>
                  <a:srgbClr val="000000"/>
                </a:solidFill>
                <a:latin typeface="Old Standard TT"/>
                <a:ea typeface="Old Standard TT"/>
                <a:cs typeface="Old Standard TT"/>
                <a:sym typeface="Old Standard TT"/>
              </a:defRPr>
            </a:lvl5pPr>
            <a:lvl6pPr indent="0" lvl="5" marL="0" marR="0" rtl="0" algn="r">
              <a:lnSpc>
                <a:spcPct val="100000"/>
              </a:lnSpc>
              <a:spcBef>
                <a:spcPts val="0"/>
              </a:spcBef>
              <a:buNone/>
              <a:defRPr b="0" i="0" sz="1000" u="none" cap="none" strike="noStrike">
                <a:solidFill>
                  <a:srgbClr val="000000"/>
                </a:solidFill>
                <a:latin typeface="Old Standard TT"/>
                <a:ea typeface="Old Standard TT"/>
                <a:cs typeface="Old Standard TT"/>
                <a:sym typeface="Old Standard TT"/>
              </a:defRPr>
            </a:lvl6pPr>
            <a:lvl7pPr indent="0" lvl="6" marL="0" marR="0" rtl="0" algn="r">
              <a:lnSpc>
                <a:spcPct val="100000"/>
              </a:lnSpc>
              <a:spcBef>
                <a:spcPts val="0"/>
              </a:spcBef>
              <a:buNone/>
              <a:defRPr b="0" i="0" sz="1000" u="none" cap="none" strike="noStrike">
                <a:solidFill>
                  <a:srgbClr val="000000"/>
                </a:solidFill>
                <a:latin typeface="Old Standard TT"/>
                <a:ea typeface="Old Standard TT"/>
                <a:cs typeface="Old Standard TT"/>
                <a:sym typeface="Old Standard TT"/>
              </a:defRPr>
            </a:lvl7pPr>
            <a:lvl8pPr indent="0" lvl="7" marL="0" marR="0" rtl="0" algn="r">
              <a:lnSpc>
                <a:spcPct val="100000"/>
              </a:lnSpc>
              <a:spcBef>
                <a:spcPts val="0"/>
              </a:spcBef>
              <a:buNone/>
              <a:defRPr b="0" i="0" sz="1000" u="none" cap="none" strike="noStrike">
                <a:solidFill>
                  <a:srgbClr val="000000"/>
                </a:solidFill>
                <a:latin typeface="Old Standard TT"/>
                <a:ea typeface="Old Standard TT"/>
                <a:cs typeface="Old Standard TT"/>
                <a:sym typeface="Old Standard TT"/>
              </a:defRPr>
            </a:lvl8pPr>
            <a:lvl9pPr indent="0" lvl="8" marL="0" marR="0" rtl="0" algn="r">
              <a:lnSpc>
                <a:spcPct val="100000"/>
              </a:lnSpc>
              <a:spcBef>
                <a:spcPts val="0"/>
              </a:spcBef>
              <a:buNone/>
              <a:defRPr b="0" i="0" sz="1000" u="none" cap="none" strike="noStrike">
                <a:solidFill>
                  <a:srgbClr val="000000"/>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7"/>
          <p:cNvPicPr preferRelativeResize="0"/>
          <p:nvPr/>
        </p:nvPicPr>
        <p:blipFill rotWithShape="1">
          <a:blip r:embed="rId3">
            <a:alphaModFix/>
          </a:blip>
          <a:srcRect b="0" l="0" r="0" t="0"/>
          <a:stretch/>
        </p:blipFill>
        <p:spPr>
          <a:xfrm>
            <a:off x="3071880" y="170640"/>
            <a:ext cx="2999520" cy="1993680"/>
          </a:xfrm>
          <a:prstGeom prst="rect">
            <a:avLst/>
          </a:prstGeom>
          <a:noFill/>
          <a:ln>
            <a:noFill/>
          </a:ln>
        </p:spPr>
      </p:pic>
      <p:sp>
        <p:nvSpPr>
          <p:cNvPr id="117" name="Google Shape;117;p27"/>
          <p:cNvSpPr txBox="1"/>
          <p:nvPr/>
        </p:nvSpPr>
        <p:spPr>
          <a:xfrm>
            <a:off x="512640" y="2230200"/>
            <a:ext cx="8118360" cy="234792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 sz="3000" u="none" cap="none" strike="noStrike">
                <a:solidFill>
                  <a:srgbClr val="FFFBF0"/>
                </a:solidFill>
                <a:latin typeface="Times New Roman"/>
                <a:ea typeface="Times New Roman"/>
                <a:cs typeface="Times New Roman"/>
                <a:sym typeface="Times New Roman"/>
              </a:rPr>
              <a:t>Computer Engineering Department</a:t>
            </a:r>
            <a:br>
              <a:rPr b="0" i="0" lang="en" sz="1800" u="none" cap="none" strike="noStrike"/>
            </a:br>
            <a:r>
              <a:rPr b="0" i="0" lang="en" sz="2400" u="none" cap="none" strike="noStrike">
                <a:solidFill>
                  <a:srgbClr val="FFFBF0"/>
                </a:solidFill>
                <a:latin typeface="Times New Roman"/>
                <a:ea typeface="Times New Roman"/>
                <a:cs typeface="Times New Roman"/>
                <a:sym typeface="Times New Roman"/>
              </a:rPr>
              <a:t>A.P. Shah Institute of Technology</a:t>
            </a:r>
            <a:br>
              <a:rPr b="0" i="0" lang="en" sz="1800" u="none" cap="none" strike="noStrike"/>
            </a:br>
            <a:r>
              <a:rPr b="0" i="0" lang="en" sz="2400" u="none" cap="none" strike="noStrike">
                <a:solidFill>
                  <a:srgbClr val="FFFBF0"/>
                </a:solidFill>
                <a:latin typeface="Times New Roman"/>
                <a:ea typeface="Times New Roman"/>
                <a:cs typeface="Times New Roman"/>
                <a:sym typeface="Times New Roman"/>
              </a:rPr>
              <a:t>G.B.Road, Kasarvadavli, Thane(W), Mumbai-400615</a:t>
            </a:r>
            <a:br>
              <a:rPr b="0" i="0" lang="en" sz="1800" u="none" cap="none" strike="noStrike"/>
            </a:br>
            <a:r>
              <a:rPr b="0" i="0" lang="en" sz="2400" u="none" cap="none" strike="noStrike">
                <a:solidFill>
                  <a:srgbClr val="FFFBF0"/>
                </a:solidFill>
                <a:latin typeface="Times New Roman"/>
                <a:ea typeface="Times New Roman"/>
                <a:cs typeface="Times New Roman"/>
                <a:sym typeface="Times New Roman"/>
              </a:rPr>
              <a:t>UNIVERSITY OF MUMBAI</a:t>
            </a:r>
            <a:br>
              <a:rPr b="0" i="0" lang="en" sz="1800" u="none" cap="none" strike="noStrike"/>
            </a:br>
            <a:r>
              <a:rPr b="0" i="0" lang="en" sz="2400" u="none" cap="none" strike="noStrike">
                <a:solidFill>
                  <a:srgbClr val="FFFBF0"/>
                </a:solidFill>
                <a:latin typeface="Times New Roman"/>
                <a:ea typeface="Times New Roman"/>
                <a:cs typeface="Times New Roman"/>
                <a:sym typeface="Times New Roman"/>
              </a:rPr>
              <a:t>Academic Year 202</a:t>
            </a:r>
            <a:r>
              <a:rPr lang="en" sz="2400">
                <a:solidFill>
                  <a:srgbClr val="FFFBF0"/>
                </a:solidFill>
                <a:latin typeface="Times New Roman"/>
                <a:ea typeface="Times New Roman"/>
                <a:cs typeface="Times New Roman"/>
                <a:sym typeface="Times New Roman"/>
              </a:rPr>
              <a:t>1</a:t>
            </a:r>
            <a:r>
              <a:rPr b="0" i="0" lang="en" sz="2400" u="none" cap="none" strike="noStrike">
                <a:solidFill>
                  <a:srgbClr val="FFFBF0"/>
                </a:solidFill>
                <a:latin typeface="Times New Roman"/>
                <a:ea typeface="Times New Roman"/>
                <a:cs typeface="Times New Roman"/>
                <a:sym typeface="Times New Roman"/>
              </a:rPr>
              <a:t>-202</a:t>
            </a:r>
            <a:r>
              <a:rPr lang="en" sz="2400">
                <a:solidFill>
                  <a:srgbClr val="FFFBF0"/>
                </a:solidFill>
                <a:latin typeface="Times New Roman"/>
                <a:ea typeface="Times New Roman"/>
                <a:cs typeface="Times New Roman"/>
                <a:sym typeface="Times New Roman"/>
              </a:rPr>
              <a:t>2</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8"/>
          <p:cNvSpPr txBox="1"/>
          <p:nvPr/>
        </p:nvSpPr>
        <p:spPr>
          <a:xfrm>
            <a:off x="512640" y="275400"/>
            <a:ext cx="8118360" cy="476172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n" sz="1800" u="none" cap="none" strike="noStrike">
                <a:solidFill>
                  <a:srgbClr val="FFFBF0"/>
                </a:solidFill>
                <a:latin typeface="Times New Roman"/>
                <a:ea typeface="Times New Roman"/>
                <a:cs typeface="Times New Roman"/>
                <a:sym typeface="Times New Roman"/>
              </a:rPr>
              <a:t> Synopsis on</a:t>
            </a:r>
            <a:br>
              <a:rPr b="0" i="0" lang="en" sz="1800" u="none" cap="none" strike="noStrike"/>
            </a:br>
            <a:r>
              <a:rPr b="1" lang="en" sz="2100">
                <a:solidFill>
                  <a:srgbClr val="FFFBF0"/>
                </a:solidFill>
                <a:latin typeface="Times New Roman"/>
                <a:ea typeface="Times New Roman"/>
                <a:cs typeface="Times New Roman"/>
                <a:sym typeface="Times New Roman"/>
              </a:rPr>
              <a:t>Malicious URL Detection</a:t>
            </a:r>
            <a:br>
              <a:rPr b="0" i="0" lang="en" sz="1800" u="none" cap="none" strike="noStrike"/>
            </a:br>
            <a:r>
              <a:rPr b="0" i="0" lang="en" sz="1800" u="none" cap="none" strike="noStrike">
                <a:solidFill>
                  <a:srgbClr val="FFFBF0"/>
                </a:solidFill>
                <a:latin typeface="Times New Roman"/>
                <a:ea typeface="Times New Roman"/>
                <a:cs typeface="Times New Roman"/>
                <a:sym typeface="Times New Roman"/>
              </a:rPr>
              <a:t>Submitted in partial fulfillment of the degree of</a:t>
            </a:r>
            <a:br>
              <a:rPr b="0" i="0" lang="en" sz="1800" u="none" cap="none" strike="noStrike"/>
            </a:br>
            <a:r>
              <a:rPr b="0" i="0" lang="en" sz="1800" u="none" cap="none" strike="noStrike">
                <a:solidFill>
                  <a:srgbClr val="FFFBF0"/>
                </a:solidFill>
                <a:latin typeface="Times New Roman"/>
                <a:ea typeface="Times New Roman"/>
                <a:cs typeface="Times New Roman"/>
                <a:sym typeface="Times New Roman"/>
              </a:rPr>
              <a:t>Bachelor of Engineering(Sem-</a:t>
            </a:r>
            <a:r>
              <a:rPr lang="en" sz="1800">
                <a:solidFill>
                  <a:srgbClr val="FFFBF0"/>
                </a:solidFill>
                <a:latin typeface="Times New Roman"/>
                <a:ea typeface="Times New Roman"/>
                <a:cs typeface="Times New Roman"/>
                <a:sym typeface="Times New Roman"/>
              </a:rPr>
              <a:t>5</a:t>
            </a:r>
            <a:r>
              <a:rPr b="0" i="0" lang="en" sz="1800" u="none" cap="none" strike="noStrike">
                <a:solidFill>
                  <a:srgbClr val="FFFBF0"/>
                </a:solidFill>
                <a:latin typeface="Times New Roman"/>
                <a:ea typeface="Times New Roman"/>
                <a:cs typeface="Times New Roman"/>
                <a:sym typeface="Times New Roman"/>
              </a:rPr>
              <a:t>)</a:t>
            </a:r>
            <a:br>
              <a:rPr b="0" i="0" lang="en" sz="1800" u="none" cap="none" strike="noStrike"/>
            </a:br>
            <a:r>
              <a:rPr b="0" i="0" lang="en" sz="1800" u="none" cap="none" strike="noStrike">
                <a:solidFill>
                  <a:srgbClr val="FFFBF0"/>
                </a:solidFill>
                <a:latin typeface="Times New Roman"/>
                <a:ea typeface="Times New Roman"/>
                <a:cs typeface="Times New Roman"/>
                <a:sym typeface="Times New Roman"/>
              </a:rPr>
              <a:t>in</a:t>
            </a:r>
            <a:br>
              <a:rPr b="0" i="0" lang="en" sz="1800" u="none" cap="none" strike="noStrike"/>
            </a:br>
            <a:r>
              <a:rPr b="1" i="0" lang="en" sz="1800" u="none" cap="none" strike="noStrike">
                <a:solidFill>
                  <a:srgbClr val="FFFBF0"/>
                </a:solidFill>
                <a:latin typeface="Times New Roman"/>
                <a:ea typeface="Times New Roman"/>
                <a:cs typeface="Times New Roman"/>
                <a:sym typeface="Times New Roman"/>
              </a:rPr>
              <a:t>Computer Engineering</a:t>
            </a:r>
            <a:br>
              <a:rPr b="0" i="0" lang="en" sz="1800" u="none" cap="none" strike="noStrike"/>
            </a:br>
            <a:r>
              <a:rPr b="0" i="0" lang="en" sz="1800" u="none" cap="none" strike="noStrike">
                <a:solidFill>
                  <a:srgbClr val="FFFBF0"/>
                </a:solidFill>
                <a:latin typeface="Times New Roman"/>
                <a:ea typeface="Times New Roman"/>
                <a:cs typeface="Times New Roman"/>
                <a:sym typeface="Times New Roman"/>
              </a:rPr>
              <a:t>By</a:t>
            </a:r>
            <a:br>
              <a:rPr b="0" i="0" lang="en" sz="1800" u="none" cap="none" strike="noStrike"/>
            </a:br>
            <a:r>
              <a:rPr lang="en" sz="1800">
                <a:solidFill>
                  <a:srgbClr val="FFFBF0"/>
                </a:solidFill>
                <a:latin typeface="Times New Roman"/>
                <a:ea typeface="Times New Roman"/>
                <a:cs typeface="Times New Roman"/>
                <a:sym typeface="Times New Roman"/>
              </a:rPr>
              <a:t>Shauryan Singh</a:t>
            </a:r>
            <a:r>
              <a:rPr b="0" i="0" lang="en" sz="1800" u="none" cap="none" strike="noStrike">
                <a:solidFill>
                  <a:srgbClr val="FFFBF0"/>
                </a:solidFill>
                <a:latin typeface="Times New Roman"/>
                <a:ea typeface="Times New Roman"/>
                <a:cs typeface="Times New Roman"/>
                <a:sym typeface="Times New Roman"/>
              </a:rPr>
              <a:t>(</a:t>
            </a:r>
            <a:r>
              <a:rPr lang="en" sz="1800">
                <a:solidFill>
                  <a:srgbClr val="FFFBF0"/>
                </a:solidFill>
                <a:latin typeface="Times New Roman"/>
                <a:ea typeface="Times New Roman"/>
                <a:cs typeface="Times New Roman"/>
                <a:sym typeface="Times New Roman"/>
              </a:rPr>
              <a:t>19102004</a:t>
            </a:r>
            <a:r>
              <a:rPr b="0" i="0" lang="en" sz="1800" u="none" cap="none" strike="noStrike">
                <a:solidFill>
                  <a:srgbClr val="FFFBF0"/>
                </a:solidFill>
                <a:latin typeface="Times New Roman"/>
                <a:ea typeface="Times New Roman"/>
                <a:cs typeface="Times New Roman"/>
                <a:sym typeface="Times New Roman"/>
              </a:rPr>
              <a:t>)</a:t>
            </a:r>
            <a:br>
              <a:rPr b="0" i="0" lang="en" sz="1800" u="none" cap="none" strike="noStrike"/>
            </a:br>
            <a:r>
              <a:rPr lang="en" sz="1800">
                <a:solidFill>
                  <a:srgbClr val="FFFBF0"/>
                </a:solidFill>
                <a:latin typeface="Times New Roman"/>
                <a:ea typeface="Times New Roman"/>
                <a:cs typeface="Times New Roman"/>
                <a:sym typeface="Times New Roman"/>
              </a:rPr>
              <a:t>Aditya Yadav</a:t>
            </a:r>
            <a:r>
              <a:rPr b="0" i="0" lang="en" sz="1800" u="none" cap="none" strike="noStrike">
                <a:solidFill>
                  <a:srgbClr val="FFFBF0"/>
                </a:solidFill>
                <a:latin typeface="Times New Roman"/>
                <a:ea typeface="Times New Roman"/>
                <a:cs typeface="Times New Roman"/>
                <a:sym typeface="Times New Roman"/>
              </a:rPr>
              <a:t>(</a:t>
            </a:r>
            <a:r>
              <a:rPr lang="en" sz="1800">
                <a:solidFill>
                  <a:srgbClr val="FFFBF0"/>
                </a:solidFill>
                <a:latin typeface="Times New Roman"/>
                <a:ea typeface="Times New Roman"/>
                <a:cs typeface="Times New Roman"/>
                <a:sym typeface="Times New Roman"/>
              </a:rPr>
              <a:t>19102006</a:t>
            </a:r>
            <a:r>
              <a:rPr b="0" i="0" lang="en" sz="1800" u="none" cap="none" strike="noStrike">
                <a:solidFill>
                  <a:srgbClr val="FFFBF0"/>
                </a:solidFill>
                <a:latin typeface="Times New Roman"/>
                <a:ea typeface="Times New Roman"/>
                <a:cs typeface="Times New Roman"/>
                <a:sym typeface="Times New Roman"/>
              </a:rPr>
              <a:t>)</a:t>
            </a:r>
            <a:br>
              <a:rPr b="0" i="0" lang="en" sz="1800" u="none" cap="none" strike="noStrike"/>
            </a:br>
            <a:r>
              <a:rPr lang="en" sz="1800">
                <a:solidFill>
                  <a:srgbClr val="FFFBF0"/>
                </a:solidFill>
                <a:latin typeface="Times New Roman"/>
                <a:ea typeface="Times New Roman"/>
                <a:cs typeface="Times New Roman"/>
                <a:sym typeface="Times New Roman"/>
              </a:rPr>
              <a:t>Viraj Jadhav</a:t>
            </a:r>
            <a:r>
              <a:rPr b="0" i="0" lang="en" sz="1800" u="none" cap="none" strike="noStrike">
                <a:solidFill>
                  <a:srgbClr val="FFFBF0"/>
                </a:solidFill>
                <a:latin typeface="Times New Roman"/>
                <a:ea typeface="Times New Roman"/>
                <a:cs typeface="Times New Roman"/>
                <a:sym typeface="Times New Roman"/>
              </a:rPr>
              <a:t>(</a:t>
            </a:r>
            <a:r>
              <a:rPr lang="en" sz="1800">
                <a:solidFill>
                  <a:srgbClr val="FFFBF0"/>
                </a:solidFill>
                <a:latin typeface="Times New Roman"/>
                <a:ea typeface="Times New Roman"/>
                <a:cs typeface="Times New Roman"/>
                <a:sym typeface="Times New Roman"/>
              </a:rPr>
              <a:t>19102022</a:t>
            </a:r>
            <a:r>
              <a:rPr b="0" i="0" lang="en" sz="1800" u="none" cap="none" strike="noStrike">
                <a:solidFill>
                  <a:srgbClr val="FFFBF0"/>
                </a:solidFill>
                <a:latin typeface="Times New Roman"/>
                <a:ea typeface="Times New Roman"/>
                <a:cs typeface="Times New Roman"/>
                <a:sym typeface="Times New Roman"/>
              </a:rPr>
              <a:t>)</a:t>
            </a:r>
            <a:endParaRPr b="0" i="0" sz="1800" u="none" cap="none" strike="noStrike">
              <a:solidFill>
                <a:srgbClr val="FFFBF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 sz="1800">
                <a:solidFill>
                  <a:srgbClr val="FFFBF0"/>
                </a:solidFill>
                <a:latin typeface="Times New Roman"/>
                <a:ea typeface="Times New Roman"/>
                <a:cs typeface="Times New Roman"/>
                <a:sym typeface="Times New Roman"/>
              </a:rPr>
              <a:t>Parag Patil(19102039)</a:t>
            </a:r>
            <a:endParaRPr sz="1800">
              <a:solidFill>
                <a:srgbClr val="FFFBF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br>
              <a:rPr b="0" i="0" lang="en" sz="1800" u="none" cap="none" strike="noStrike"/>
            </a:br>
            <a:br>
              <a:rPr b="0" i="0" lang="en" sz="1800" u="none" cap="none" strike="noStrike"/>
            </a:br>
            <a:r>
              <a:rPr b="0" i="0" lang="en" sz="1800" u="none" cap="none" strike="noStrike">
                <a:solidFill>
                  <a:srgbClr val="FFFBF0"/>
                </a:solidFill>
                <a:latin typeface="Times New Roman"/>
                <a:ea typeface="Times New Roman"/>
                <a:cs typeface="Times New Roman"/>
                <a:sym typeface="Times New Roman"/>
              </a:rPr>
              <a:t>Under the Guidance of</a:t>
            </a:r>
            <a:br>
              <a:rPr b="0" i="0" lang="en" sz="1800" u="none" cap="none" strike="noStrike"/>
            </a:br>
            <a:r>
              <a:rPr lang="en" sz="1800">
                <a:solidFill>
                  <a:srgbClr val="FFFBF0"/>
                </a:solidFill>
                <a:latin typeface="Times New Roman"/>
                <a:ea typeface="Times New Roman"/>
                <a:cs typeface="Times New Roman"/>
                <a:sym typeface="Times New Roman"/>
              </a:rPr>
              <a:t>Sofiya Mujawar</a:t>
            </a:r>
            <a:br>
              <a:rPr b="0" i="0" lang="en" sz="1800" u="none" cap="none" strike="noStrike"/>
            </a:br>
            <a:br>
              <a:rPr b="0" i="0" lang="en" sz="1800" u="none" cap="none" strike="noStrike"/>
            </a:br>
            <a:br>
              <a:rPr b="0" i="0" lang="en" sz="1800" u="none" cap="none" strike="noStrike"/>
            </a:br>
            <a:br>
              <a:rPr b="0" i="0" lang="en" sz="1800" u="none" cap="none" strike="noStrike"/>
            </a:br>
            <a:br>
              <a:rPr b="0" i="0" lang="en" sz="1800" u="none" cap="none" strike="noStrike"/>
            </a:b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9"/>
          <p:cNvSpPr txBox="1"/>
          <p:nvPr/>
        </p:nvSpPr>
        <p:spPr>
          <a:xfrm>
            <a:off x="512640" y="1893240"/>
            <a:ext cx="8118360" cy="152244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 sz="4000" u="none" cap="none" strike="noStrike">
                <a:solidFill>
                  <a:srgbClr val="FFFBF0"/>
                </a:solidFill>
                <a:latin typeface="Times New Roman"/>
                <a:ea typeface="Times New Roman"/>
                <a:cs typeface="Times New Roman"/>
                <a:sym typeface="Times New Roman"/>
              </a:rPr>
              <a:t>1.Project Conception and Initiation</a:t>
            </a:r>
            <a:endParaRPr b="0" i="0" sz="4000" u="none" cap="none" strike="noStrike">
              <a:solidFill>
                <a:srgbClr val="000000"/>
              </a:solidFill>
              <a:latin typeface="Arial"/>
              <a:ea typeface="Arial"/>
              <a:cs typeface="Arial"/>
              <a:sym typeface="Arial"/>
            </a:endParaRPr>
          </a:p>
        </p:txBody>
      </p:sp>
      <p:sp>
        <p:nvSpPr>
          <p:cNvPr id="128" name="Google Shape;128;p29"/>
          <p:cNvSpPr txBox="1"/>
          <p:nvPr/>
        </p:nvSpPr>
        <p:spPr>
          <a:xfrm>
            <a:off x="512640" y="3840480"/>
            <a:ext cx="8118360" cy="78732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b="0" i="0" sz="3200" u="none" cap="none" strike="noStrike">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F0"/>
        </a:solidFill>
      </p:bgPr>
    </p:bg>
    <p:spTree>
      <p:nvGrpSpPr>
        <p:cNvPr id="132" name="Shape 132"/>
        <p:cNvGrpSpPr/>
        <p:nvPr/>
      </p:nvGrpSpPr>
      <p:grpSpPr>
        <a:xfrm>
          <a:off x="0" y="0"/>
          <a:ext cx="0" cy="0"/>
          <a:chOff x="0" y="0"/>
          <a:chExt cx="0" cy="0"/>
        </a:xfrm>
      </p:grpSpPr>
      <p:sp>
        <p:nvSpPr>
          <p:cNvPr id="133" name="Google Shape;133;p30"/>
          <p:cNvSpPr txBox="1"/>
          <p:nvPr/>
        </p:nvSpPr>
        <p:spPr>
          <a:xfrm>
            <a:off x="311760" y="444960"/>
            <a:ext cx="8520120" cy="612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3000" u="none" cap="none" strike="noStrike">
                <a:solidFill>
                  <a:srgbClr val="000000"/>
                </a:solidFill>
                <a:latin typeface="Times New Roman"/>
                <a:ea typeface="Times New Roman"/>
                <a:cs typeface="Times New Roman"/>
                <a:sym typeface="Times New Roman"/>
              </a:rPr>
              <a:t>1.1 Abstract</a:t>
            </a:r>
            <a:endParaRPr b="0" i="0" sz="3000" u="none" cap="none" strike="noStrike">
              <a:solidFill>
                <a:srgbClr val="000000"/>
              </a:solidFill>
              <a:latin typeface="Arial"/>
              <a:ea typeface="Arial"/>
              <a:cs typeface="Arial"/>
              <a:sym typeface="Arial"/>
            </a:endParaRPr>
          </a:p>
        </p:txBody>
      </p:sp>
      <p:sp>
        <p:nvSpPr>
          <p:cNvPr id="134" name="Google Shape;134;p30"/>
          <p:cNvSpPr txBox="1"/>
          <p:nvPr/>
        </p:nvSpPr>
        <p:spPr>
          <a:xfrm>
            <a:off x="311760" y="1171440"/>
            <a:ext cx="8520120" cy="339696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400"/>
              </a:spcBef>
              <a:spcAft>
                <a:spcPts val="0"/>
              </a:spcAft>
              <a:buClr>
                <a:schemeClr val="dk1"/>
              </a:buClr>
              <a:buSzPts val="1600"/>
              <a:buFont typeface="Lora"/>
              <a:buChar char="●"/>
            </a:pPr>
            <a:r>
              <a:rPr lang="en" sz="1600">
                <a:solidFill>
                  <a:schemeClr val="dk1"/>
                </a:solidFill>
                <a:latin typeface="Lora"/>
                <a:ea typeface="Lora"/>
                <a:cs typeface="Lora"/>
                <a:sym typeface="Lora"/>
              </a:rPr>
              <a:t>A malicious website, is a common and serious threat to cybersecurity. Malicious URLs host unsolicited content (spam, phishing, etc.) and lure unsuspecting users to become victims of scams(monetary loss, theft of private information, and malware installation). </a:t>
            </a:r>
            <a:endParaRPr sz="1600">
              <a:solidFill>
                <a:schemeClr val="dk1"/>
              </a:solidFill>
              <a:latin typeface="Lora"/>
              <a:ea typeface="Lora"/>
              <a:cs typeface="Lora"/>
              <a:sym typeface="Lora"/>
            </a:endParaRPr>
          </a:p>
          <a:p>
            <a:pPr indent="-330200" lvl="0" marL="457200" rtl="0" algn="l">
              <a:lnSpc>
                <a:spcPct val="115000"/>
              </a:lnSpc>
              <a:spcBef>
                <a:spcPts val="1000"/>
              </a:spcBef>
              <a:spcAft>
                <a:spcPts val="0"/>
              </a:spcAft>
              <a:buClr>
                <a:schemeClr val="dk1"/>
              </a:buClr>
              <a:buSzPts val="1600"/>
              <a:buFont typeface="Lora"/>
              <a:buChar char="●"/>
            </a:pPr>
            <a:r>
              <a:rPr lang="en" sz="1600">
                <a:solidFill>
                  <a:schemeClr val="dk1"/>
                </a:solidFill>
                <a:latin typeface="Lora"/>
                <a:ea typeface="Lora"/>
                <a:cs typeface="Lora"/>
                <a:sym typeface="Lora"/>
              </a:rPr>
              <a:t>Recently, with the increase in Internet usage, cybersecurity has been a significant challenge for computer systems.</a:t>
            </a:r>
            <a:endParaRPr sz="1600">
              <a:solidFill>
                <a:schemeClr val="dk1"/>
              </a:solidFill>
              <a:latin typeface="Lora"/>
              <a:ea typeface="Lora"/>
              <a:cs typeface="Lora"/>
              <a:sym typeface="Lora"/>
            </a:endParaRPr>
          </a:p>
          <a:p>
            <a:pPr indent="-330200" lvl="0" marL="457200" rtl="0" algn="l">
              <a:lnSpc>
                <a:spcPct val="115000"/>
              </a:lnSpc>
              <a:spcBef>
                <a:spcPts val="1000"/>
              </a:spcBef>
              <a:spcAft>
                <a:spcPts val="0"/>
              </a:spcAft>
              <a:buClr>
                <a:schemeClr val="dk1"/>
              </a:buClr>
              <a:buSzPts val="1600"/>
              <a:buFont typeface="Lora"/>
              <a:buChar char="●"/>
            </a:pPr>
            <a:r>
              <a:rPr lang="en" sz="1600">
                <a:solidFill>
                  <a:schemeClr val="dk1"/>
                </a:solidFill>
                <a:latin typeface="Lora"/>
                <a:ea typeface="Lora"/>
                <a:cs typeface="Lora"/>
                <a:sym typeface="Lora"/>
              </a:rPr>
              <a:t>Our project proposes using host-based and lexical features of the associated URLs to better improve the performance of classifiers for detecting malicious web sites. </a:t>
            </a:r>
            <a:endParaRPr sz="1600">
              <a:solidFill>
                <a:schemeClr val="dk1"/>
              </a:solidFill>
              <a:latin typeface="Lora"/>
              <a:ea typeface="Lora"/>
              <a:cs typeface="Lora"/>
              <a:sym typeface="Lora"/>
            </a:endParaRPr>
          </a:p>
          <a:p>
            <a:pPr indent="-330200" lvl="0" marL="457200" rtl="0" algn="l">
              <a:lnSpc>
                <a:spcPct val="115000"/>
              </a:lnSpc>
              <a:spcBef>
                <a:spcPts val="1000"/>
              </a:spcBef>
              <a:spcAft>
                <a:spcPts val="0"/>
              </a:spcAft>
              <a:buClr>
                <a:schemeClr val="dk1"/>
              </a:buClr>
              <a:buSzPts val="1600"/>
              <a:buFont typeface="Lora"/>
              <a:buChar char="●"/>
            </a:pPr>
            <a:r>
              <a:rPr lang="en" sz="1600">
                <a:solidFill>
                  <a:schemeClr val="dk1"/>
                </a:solidFill>
                <a:latin typeface="Lora"/>
                <a:ea typeface="Lora"/>
                <a:cs typeface="Lora"/>
                <a:sym typeface="Lora"/>
              </a:rPr>
              <a:t>The results show that being able to identify malicious websites based on URL alone and classify them as spam URLs without relying on page content will result in significant resource savings as well as safe browsing experience for the user.</a:t>
            </a:r>
            <a:endParaRPr i="0" sz="1600" u="none" cap="none" strike="noStrike">
              <a:solidFill>
                <a:srgbClr val="000000"/>
              </a:solidFill>
              <a:latin typeface="Lora"/>
              <a:ea typeface="Lora"/>
              <a:cs typeface="Lora"/>
              <a:sym typeface="Lora"/>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1"/>
          <p:cNvSpPr txBox="1"/>
          <p:nvPr/>
        </p:nvSpPr>
        <p:spPr>
          <a:xfrm>
            <a:off x="311760" y="444960"/>
            <a:ext cx="8520120" cy="612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3000" u="none" cap="none" strike="noStrike">
                <a:solidFill>
                  <a:srgbClr val="000000"/>
                </a:solidFill>
                <a:latin typeface="Times New Roman"/>
                <a:ea typeface="Times New Roman"/>
                <a:cs typeface="Times New Roman"/>
                <a:sym typeface="Times New Roman"/>
              </a:rPr>
              <a:t>1.2 Objectives</a:t>
            </a:r>
            <a:endParaRPr b="0" i="0" sz="3000" u="none" cap="none" strike="noStrike">
              <a:solidFill>
                <a:srgbClr val="000000"/>
              </a:solidFill>
              <a:latin typeface="Arial"/>
              <a:ea typeface="Arial"/>
              <a:cs typeface="Arial"/>
              <a:sym typeface="Arial"/>
            </a:endParaRPr>
          </a:p>
        </p:txBody>
      </p:sp>
      <p:sp>
        <p:nvSpPr>
          <p:cNvPr id="140" name="Google Shape;140;p31"/>
          <p:cNvSpPr txBox="1"/>
          <p:nvPr/>
        </p:nvSpPr>
        <p:spPr>
          <a:xfrm>
            <a:off x="311760" y="1171440"/>
            <a:ext cx="8520120" cy="3396960"/>
          </a:xfrm>
          <a:prstGeom prst="rect">
            <a:avLst/>
          </a:prstGeom>
          <a:noFill/>
          <a:ln>
            <a:noFill/>
          </a:ln>
        </p:spPr>
        <p:txBody>
          <a:bodyPr anchorCtr="0" anchor="t" bIns="91425" lIns="91425" spcFirstLastPara="1" rIns="91425" wrap="square" tIns="91425">
            <a:noAutofit/>
          </a:bodyPr>
          <a:lstStyle/>
          <a:p>
            <a:pPr indent="-342720" lvl="0" marL="457200" marR="0" rtl="0" algn="l">
              <a:lnSpc>
                <a:spcPct val="115000"/>
              </a:lnSpc>
              <a:spcBef>
                <a:spcPts val="0"/>
              </a:spcBef>
              <a:spcAft>
                <a:spcPts val="0"/>
              </a:spcAft>
              <a:buClr>
                <a:srgbClr val="000000"/>
              </a:buClr>
              <a:buSzPts val="1800"/>
              <a:buFont typeface="Lora"/>
              <a:buChar char="●"/>
            </a:pPr>
            <a:r>
              <a:rPr lang="en" sz="1800">
                <a:latin typeface="Lora"/>
                <a:ea typeface="Lora"/>
                <a:cs typeface="Lora"/>
                <a:sym typeface="Lora"/>
              </a:rPr>
              <a:t>To Detect and Notify the user about the url being malicious or benign.</a:t>
            </a:r>
            <a:r>
              <a:rPr i="0" lang="en" sz="1800" u="none" cap="none" strike="noStrike">
                <a:solidFill>
                  <a:srgbClr val="000000"/>
                </a:solidFill>
                <a:latin typeface="Lora"/>
                <a:ea typeface="Lora"/>
                <a:cs typeface="Lora"/>
                <a:sym typeface="Lora"/>
              </a:rPr>
              <a:t>                             </a:t>
            </a:r>
            <a:endParaRPr i="0" sz="1800" u="none" cap="none" strike="noStrike">
              <a:solidFill>
                <a:srgbClr val="000000"/>
              </a:solidFill>
              <a:latin typeface="Lora"/>
              <a:ea typeface="Lora"/>
              <a:cs typeface="Lora"/>
              <a:sym typeface="Lora"/>
            </a:endParaRPr>
          </a:p>
          <a:p>
            <a:pPr indent="-342720" lvl="0" marL="457200" marR="0" rtl="0" algn="l">
              <a:lnSpc>
                <a:spcPct val="115000"/>
              </a:lnSpc>
              <a:spcBef>
                <a:spcPts val="1000"/>
              </a:spcBef>
              <a:spcAft>
                <a:spcPts val="0"/>
              </a:spcAft>
              <a:buClr>
                <a:srgbClr val="000000"/>
              </a:buClr>
              <a:buSzPts val="1800"/>
              <a:buFont typeface="Lora"/>
              <a:buChar char="●"/>
            </a:pPr>
            <a:r>
              <a:rPr lang="en" sz="1800">
                <a:latin typeface="Lora"/>
                <a:ea typeface="Lora"/>
                <a:cs typeface="Lora"/>
                <a:sym typeface="Lora"/>
              </a:rPr>
              <a:t>To protect user’s sensitive data in case of phishing url attack.</a:t>
            </a:r>
            <a:endParaRPr i="0" sz="1800" u="none" cap="none" strike="noStrike">
              <a:solidFill>
                <a:srgbClr val="000000"/>
              </a:solidFill>
              <a:latin typeface="Lora"/>
              <a:ea typeface="Lora"/>
              <a:cs typeface="Lora"/>
              <a:sym typeface="Lora"/>
            </a:endParaRPr>
          </a:p>
          <a:p>
            <a:pPr indent="-342720" lvl="0" marL="457200" marR="0" rtl="0" algn="l">
              <a:lnSpc>
                <a:spcPct val="115000"/>
              </a:lnSpc>
              <a:spcBef>
                <a:spcPts val="1000"/>
              </a:spcBef>
              <a:spcAft>
                <a:spcPts val="0"/>
              </a:spcAft>
              <a:buClr>
                <a:srgbClr val="000000"/>
              </a:buClr>
              <a:buSzPts val="1800"/>
              <a:buFont typeface="Lora"/>
              <a:buChar char="●"/>
            </a:pPr>
            <a:r>
              <a:rPr i="0" lang="en" sz="1800" u="none" cap="none" strike="noStrike">
                <a:solidFill>
                  <a:srgbClr val="000000"/>
                </a:solidFill>
                <a:latin typeface="Lora"/>
                <a:ea typeface="Lora"/>
                <a:cs typeface="Lora"/>
                <a:sym typeface="Lora"/>
              </a:rPr>
              <a:t> Our ultimate goal is to contribute to the creation of a </a:t>
            </a:r>
            <a:r>
              <a:rPr lang="en" sz="1800">
                <a:latin typeface="Lora"/>
                <a:ea typeface="Lora"/>
                <a:cs typeface="Lora"/>
                <a:sym typeface="Lora"/>
              </a:rPr>
              <a:t>real time</a:t>
            </a:r>
            <a:r>
              <a:rPr i="0" lang="en" sz="1800" u="none" cap="none" strike="noStrike">
                <a:solidFill>
                  <a:srgbClr val="000000"/>
                </a:solidFill>
                <a:latin typeface="Lora"/>
                <a:ea typeface="Lora"/>
                <a:cs typeface="Lora"/>
                <a:sym typeface="Lora"/>
              </a:rPr>
              <a:t> malware classifier to block out malicious URLs.</a:t>
            </a:r>
            <a:endParaRPr i="0" sz="1800" u="none" cap="none" strike="noStrike">
              <a:solidFill>
                <a:srgbClr val="000000"/>
              </a:solidFill>
              <a:latin typeface="Lora"/>
              <a:ea typeface="Lora"/>
              <a:cs typeface="Lora"/>
              <a:sym typeface="Lora"/>
            </a:endParaRPr>
          </a:p>
          <a:p>
            <a:pPr indent="0" lvl="0" marL="0" marR="0" rtl="0" algn="l">
              <a:lnSpc>
                <a:spcPct val="115000"/>
              </a:lnSpc>
              <a:spcBef>
                <a:spcPts val="1000"/>
              </a:spcBef>
              <a:spcAft>
                <a:spcPts val="0"/>
              </a:spcAft>
              <a:buNone/>
            </a:pPr>
            <a:r>
              <a:t/>
            </a:r>
            <a:endParaRPr i="0" sz="1800" u="none" cap="none" strike="noStrike">
              <a:solidFill>
                <a:srgbClr val="000000"/>
              </a:solidFill>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F0"/>
        </a:solidFill>
      </p:bgPr>
    </p:bg>
    <p:spTree>
      <p:nvGrpSpPr>
        <p:cNvPr id="144" name="Shape 144"/>
        <p:cNvGrpSpPr/>
        <p:nvPr/>
      </p:nvGrpSpPr>
      <p:grpSpPr>
        <a:xfrm>
          <a:off x="0" y="0"/>
          <a:ext cx="0" cy="0"/>
          <a:chOff x="0" y="0"/>
          <a:chExt cx="0" cy="0"/>
        </a:xfrm>
      </p:grpSpPr>
      <p:sp>
        <p:nvSpPr>
          <p:cNvPr id="145" name="Google Shape;145;p32"/>
          <p:cNvSpPr txBox="1"/>
          <p:nvPr/>
        </p:nvSpPr>
        <p:spPr>
          <a:xfrm>
            <a:off x="311760" y="444960"/>
            <a:ext cx="8520120" cy="612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Times New Roman"/>
                <a:ea typeface="Times New Roman"/>
                <a:cs typeface="Times New Roman"/>
                <a:sym typeface="Times New Roman"/>
              </a:rPr>
              <a:t>1.3 Literature Review</a:t>
            </a:r>
            <a:endParaRPr b="0" i="0" sz="3000" u="none" cap="none" strike="noStrike">
              <a:solidFill>
                <a:schemeClr val="dk1"/>
              </a:solidFill>
              <a:latin typeface="Arial"/>
              <a:ea typeface="Arial"/>
              <a:cs typeface="Arial"/>
              <a:sym typeface="Arial"/>
            </a:endParaRPr>
          </a:p>
        </p:txBody>
      </p:sp>
      <p:graphicFrame>
        <p:nvGraphicFramePr>
          <p:cNvPr id="146" name="Google Shape;146;p32"/>
          <p:cNvGraphicFramePr/>
          <p:nvPr/>
        </p:nvGraphicFramePr>
        <p:xfrm>
          <a:off x="311750" y="1212375"/>
          <a:ext cx="3000000" cy="3000000"/>
        </p:xfrm>
        <a:graphic>
          <a:graphicData uri="http://schemas.openxmlformats.org/drawingml/2006/table">
            <a:tbl>
              <a:tblPr>
                <a:noFill/>
                <a:tableStyleId>{B76CAFCD-A7A8-427E-AB1E-A36ABEC1CF4C}</a:tableStyleId>
              </a:tblPr>
              <a:tblGrid>
                <a:gridCol w="1963675"/>
                <a:gridCol w="1963675"/>
                <a:gridCol w="1963675"/>
                <a:gridCol w="1963675"/>
              </a:tblGrid>
              <a:tr h="531950">
                <a:tc>
                  <a:txBody>
                    <a:bodyPr/>
                    <a:lstStyle/>
                    <a:p>
                      <a:pPr indent="0" lvl="0" marL="0" rtl="0" algn="ctr">
                        <a:spcBef>
                          <a:spcPts val="0"/>
                        </a:spcBef>
                        <a:spcAft>
                          <a:spcPts val="0"/>
                        </a:spcAft>
                        <a:buNone/>
                      </a:pPr>
                      <a:r>
                        <a:rPr lang="en" sz="1200">
                          <a:latin typeface="Georgia"/>
                          <a:ea typeface="Georgia"/>
                          <a:cs typeface="Georgia"/>
                          <a:sym typeface="Georgia"/>
                        </a:rPr>
                        <a:t>Paper Name</a:t>
                      </a:r>
                      <a:endParaRPr sz="1200">
                        <a:latin typeface="Georgia"/>
                        <a:ea typeface="Georgia"/>
                        <a:cs typeface="Georgia"/>
                        <a:sym typeface="Georgi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Year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Georgia"/>
                          <a:ea typeface="Georgia"/>
                          <a:cs typeface="Georgia"/>
                          <a:sym typeface="Georgia"/>
                        </a:rPr>
                        <a:t>Author Name</a:t>
                      </a:r>
                      <a:endParaRPr sz="1200">
                        <a:latin typeface="Georgia"/>
                        <a:ea typeface="Georgia"/>
                        <a:cs typeface="Georgia"/>
                        <a:sym typeface="Georgi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Features</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26425">
                <a:tc>
                  <a:txBody>
                    <a:bodyPr/>
                    <a:lstStyle/>
                    <a:p>
                      <a:pPr indent="0" lvl="0" marL="0" rtl="0" algn="ctr">
                        <a:spcBef>
                          <a:spcPts val="0"/>
                        </a:spcBef>
                        <a:spcAft>
                          <a:spcPts val="0"/>
                        </a:spcAft>
                        <a:buNone/>
                      </a:pPr>
                      <a:r>
                        <a:rPr lang="en" sz="1200">
                          <a:latin typeface="Georgia"/>
                          <a:ea typeface="Georgia"/>
                          <a:cs typeface="Georgia"/>
                          <a:sym typeface="Georgia"/>
                        </a:rPr>
                        <a:t>Malicious URL Detection based on Machine Learning</a:t>
                      </a:r>
                      <a:endParaRPr sz="1200">
                        <a:latin typeface="Georgia"/>
                        <a:ea typeface="Georgia"/>
                        <a:cs typeface="Georgia"/>
                        <a:sym typeface="Georgia"/>
                      </a:endParaRPr>
                    </a:p>
                  </a:txBody>
                  <a:tcPr marT="63500" marB="63500" marR="63500" marL="635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Georgia"/>
                          <a:ea typeface="Georgia"/>
                          <a:cs typeface="Georgia"/>
                          <a:sym typeface="Georgia"/>
                        </a:rPr>
                        <a:t>2020</a:t>
                      </a:r>
                      <a:endParaRPr sz="1200">
                        <a:latin typeface="Georgia"/>
                        <a:ea typeface="Georgia"/>
                        <a:cs typeface="Georgia"/>
                        <a:sym typeface="Georgi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Georgia"/>
                          <a:ea typeface="Georgia"/>
                          <a:cs typeface="Georgia"/>
                          <a:sym typeface="Georgia"/>
                        </a:rPr>
                        <a:t>Cho Do Xuan, </a:t>
                      </a:r>
                      <a:endParaRPr sz="1200">
                        <a:latin typeface="Georgia"/>
                        <a:ea typeface="Georgia"/>
                        <a:cs typeface="Georgia"/>
                        <a:sym typeface="Georgia"/>
                      </a:endParaRPr>
                    </a:p>
                    <a:p>
                      <a:pPr indent="0" lvl="0" marL="0" rtl="0" algn="ctr">
                        <a:spcBef>
                          <a:spcPts val="0"/>
                        </a:spcBef>
                        <a:spcAft>
                          <a:spcPts val="0"/>
                        </a:spcAft>
                        <a:buNone/>
                      </a:pPr>
                      <a:r>
                        <a:rPr lang="en" sz="1200">
                          <a:latin typeface="Georgia"/>
                          <a:ea typeface="Georgia"/>
                          <a:cs typeface="Georgia"/>
                          <a:sym typeface="Georgia"/>
                        </a:rPr>
                        <a:t>Hoa Dinh Nguyen,</a:t>
                      </a:r>
                      <a:endParaRPr sz="1200">
                        <a:latin typeface="Georgia"/>
                        <a:ea typeface="Georgia"/>
                        <a:cs typeface="Georgia"/>
                        <a:sym typeface="Georgia"/>
                      </a:endParaRPr>
                    </a:p>
                    <a:p>
                      <a:pPr indent="0" lvl="0" marL="0" rtl="0" algn="ctr">
                        <a:spcBef>
                          <a:spcPts val="0"/>
                        </a:spcBef>
                        <a:spcAft>
                          <a:spcPts val="0"/>
                        </a:spcAft>
                        <a:buNone/>
                      </a:pPr>
                      <a:r>
                        <a:rPr lang="en" sz="1200">
                          <a:latin typeface="Georgia"/>
                          <a:ea typeface="Georgia"/>
                          <a:cs typeface="Georgia"/>
                          <a:sym typeface="Georgia"/>
                        </a:rPr>
                        <a:t>Tisenko Victor Nikolaevich</a:t>
                      </a:r>
                      <a:endParaRPr sz="1200">
                        <a:latin typeface="Georgia"/>
                        <a:ea typeface="Georgia"/>
                        <a:cs typeface="Georgia"/>
                        <a:sym typeface="Georgi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304800" lvl="0" marL="457200" rtl="0" algn="l">
                        <a:spcBef>
                          <a:spcPts val="0"/>
                        </a:spcBef>
                        <a:spcAft>
                          <a:spcPts val="0"/>
                        </a:spcAft>
                        <a:buSzPts val="1200"/>
                        <a:buFont typeface="Georgia"/>
                        <a:buChar char="●"/>
                      </a:pPr>
                      <a:r>
                        <a:rPr lang="en" sz="1200">
                          <a:latin typeface="Georgia"/>
                          <a:ea typeface="Georgia"/>
                          <a:cs typeface="Georgia"/>
                          <a:sym typeface="Georgia"/>
                        </a:rPr>
                        <a:t>Method for malicious URL detection using machine learning is presented</a:t>
                      </a:r>
                      <a:endParaRPr sz="1200">
                        <a:latin typeface="Georgia"/>
                        <a:ea typeface="Georgia"/>
                        <a:cs typeface="Georgia"/>
                        <a:sym typeface="Georgia"/>
                      </a:endParaRPr>
                    </a:p>
                    <a:p>
                      <a:pPr indent="0" lvl="0" marL="457200" rtl="0" algn="l">
                        <a:spcBef>
                          <a:spcPts val="0"/>
                        </a:spcBef>
                        <a:spcAft>
                          <a:spcPts val="0"/>
                        </a:spcAft>
                        <a:buNone/>
                      </a:pPr>
                      <a:r>
                        <a:t/>
                      </a:r>
                      <a:endParaRPr sz="1200">
                        <a:latin typeface="Georgia"/>
                        <a:ea typeface="Georgia"/>
                        <a:cs typeface="Georgia"/>
                        <a:sym typeface="Georgia"/>
                      </a:endParaRPr>
                    </a:p>
                    <a:p>
                      <a:pPr indent="-304800" lvl="0" marL="457200" rtl="0" algn="l">
                        <a:spcBef>
                          <a:spcPts val="0"/>
                        </a:spcBef>
                        <a:spcAft>
                          <a:spcPts val="0"/>
                        </a:spcAft>
                        <a:buSzPts val="1200"/>
                        <a:buFont typeface="Georgia"/>
                        <a:buChar char="●"/>
                      </a:pPr>
                      <a:r>
                        <a:rPr lang="en" sz="1200">
                          <a:latin typeface="Georgia"/>
                          <a:ea typeface="Georgia"/>
                          <a:cs typeface="Georgia"/>
                          <a:sym typeface="Georgia"/>
                        </a:rPr>
                        <a:t>URL Attribute Extraction and Selection</a:t>
                      </a:r>
                      <a:endParaRPr sz="1200">
                        <a:latin typeface="Georgia"/>
                        <a:ea typeface="Georgia"/>
                        <a:cs typeface="Georgia"/>
                        <a:sym typeface="Georgia"/>
                      </a:endParaRPr>
                    </a:p>
                  </a:txBody>
                  <a:tcPr marT="63500" marB="63500" marR="63500" marL="635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52650">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Georgia"/>
                          <a:ea typeface="Georgia"/>
                          <a:cs typeface="Georgia"/>
                          <a:sym typeface="Georgia"/>
                        </a:rPr>
                        <a:t>Malicious URL Detection using Machine Learning: A Survey</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Georgia"/>
                          <a:ea typeface="Georgia"/>
                          <a:cs typeface="Georgia"/>
                          <a:sym typeface="Georgia"/>
                        </a:rPr>
                        <a:t>2019</a:t>
                      </a:r>
                      <a:endParaRPr sz="1200">
                        <a:latin typeface="Georgia"/>
                        <a:ea typeface="Georgia"/>
                        <a:cs typeface="Georgia"/>
                        <a:sym typeface="Georgi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Georgia"/>
                          <a:ea typeface="Georgia"/>
                          <a:cs typeface="Georgia"/>
                          <a:sym typeface="Georgia"/>
                        </a:rPr>
                        <a:t>DOYEN SAHOO,</a:t>
                      </a:r>
                      <a:endParaRPr sz="1200">
                        <a:latin typeface="Georgia"/>
                        <a:ea typeface="Georgia"/>
                        <a:cs typeface="Georgia"/>
                        <a:sym typeface="Georgia"/>
                      </a:endParaRPr>
                    </a:p>
                    <a:p>
                      <a:pPr indent="0" lvl="0" marL="0" rtl="0" algn="ctr">
                        <a:spcBef>
                          <a:spcPts val="0"/>
                        </a:spcBef>
                        <a:spcAft>
                          <a:spcPts val="0"/>
                        </a:spcAft>
                        <a:buNone/>
                      </a:pPr>
                      <a:r>
                        <a:rPr lang="en" sz="1200">
                          <a:latin typeface="Georgia"/>
                          <a:ea typeface="Georgia"/>
                          <a:cs typeface="Georgia"/>
                          <a:sym typeface="Georgia"/>
                        </a:rPr>
                        <a:t>CHENGHAO LIU,</a:t>
                      </a:r>
                      <a:endParaRPr sz="1200">
                        <a:latin typeface="Georgia"/>
                        <a:ea typeface="Georgia"/>
                        <a:cs typeface="Georgia"/>
                        <a:sym typeface="Georgia"/>
                      </a:endParaRPr>
                    </a:p>
                    <a:p>
                      <a:pPr indent="0" lvl="0" marL="0" rtl="0" algn="ctr">
                        <a:spcBef>
                          <a:spcPts val="0"/>
                        </a:spcBef>
                        <a:spcAft>
                          <a:spcPts val="0"/>
                        </a:spcAft>
                        <a:buNone/>
                      </a:pPr>
                      <a:r>
                        <a:rPr lang="en" sz="1200">
                          <a:latin typeface="Georgia"/>
                          <a:ea typeface="Georgia"/>
                          <a:cs typeface="Georgia"/>
                          <a:sym typeface="Georgia"/>
                        </a:rPr>
                        <a:t>STEVEN C.H. HOI</a:t>
                      </a:r>
                      <a:endParaRPr sz="1200">
                        <a:latin typeface="Georgia"/>
                        <a:ea typeface="Georgia"/>
                        <a:cs typeface="Georgia"/>
                        <a:sym typeface="Georgi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304800" lvl="0" marL="457200" rtl="0" algn="l">
                        <a:spcBef>
                          <a:spcPts val="0"/>
                        </a:spcBef>
                        <a:spcAft>
                          <a:spcPts val="0"/>
                        </a:spcAft>
                        <a:buSzPts val="1200"/>
                        <a:buFont typeface="Georgia"/>
                        <a:buChar char="●"/>
                      </a:pPr>
                      <a:r>
                        <a:rPr lang="en" sz="1200">
                          <a:latin typeface="Georgia"/>
                          <a:ea typeface="Georgia"/>
                          <a:cs typeface="Georgia"/>
                          <a:sym typeface="Georgia"/>
                        </a:rPr>
                        <a:t> Host-based Features</a:t>
                      </a:r>
                      <a:endParaRPr sz="1200">
                        <a:latin typeface="Georgia"/>
                        <a:ea typeface="Georgia"/>
                        <a:cs typeface="Georgia"/>
                        <a:sym typeface="Georgia"/>
                      </a:endParaRPr>
                    </a:p>
                    <a:p>
                      <a:pPr indent="-304800" lvl="0" marL="457200" rtl="0" algn="l">
                        <a:spcBef>
                          <a:spcPts val="0"/>
                        </a:spcBef>
                        <a:spcAft>
                          <a:spcPts val="0"/>
                        </a:spcAft>
                        <a:buSzPts val="1200"/>
                        <a:buFont typeface="Georgia"/>
                        <a:buChar char="●"/>
                      </a:pPr>
                      <a:r>
                        <a:rPr lang="en" sz="1200">
                          <a:latin typeface="Georgia"/>
                          <a:ea typeface="Georgia"/>
                          <a:cs typeface="Georgia"/>
                          <a:sym typeface="Georgia"/>
                        </a:rPr>
                        <a:t>Lexical Features</a:t>
                      </a:r>
                      <a:endParaRPr sz="1200">
                        <a:latin typeface="Georgia"/>
                        <a:ea typeface="Georgia"/>
                        <a:cs typeface="Georgia"/>
                        <a:sym typeface="Georgia"/>
                      </a:endParaRPr>
                    </a:p>
                    <a:p>
                      <a:pPr indent="-304800" lvl="0" marL="457200" rtl="0" algn="l">
                        <a:spcBef>
                          <a:spcPts val="0"/>
                        </a:spcBef>
                        <a:spcAft>
                          <a:spcPts val="0"/>
                        </a:spcAft>
                        <a:buSzPts val="1200"/>
                        <a:buFont typeface="Georgia"/>
                        <a:buChar char="●"/>
                      </a:pPr>
                      <a:r>
                        <a:rPr lang="en" sz="1200">
                          <a:latin typeface="Georgia"/>
                          <a:ea typeface="Georgia"/>
                          <a:cs typeface="Georgia"/>
                          <a:sym typeface="Georgia"/>
                        </a:rPr>
                        <a:t>Content-based Features</a:t>
                      </a:r>
                      <a:endParaRPr sz="1200">
                        <a:latin typeface="Georgia"/>
                        <a:ea typeface="Georgia"/>
                        <a:cs typeface="Georgia"/>
                        <a:sym typeface="Georgia"/>
                      </a:endParaRPr>
                    </a:p>
                    <a:p>
                      <a:pPr indent="-304800" lvl="0" marL="457200" rtl="0" algn="l">
                        <a:spcBef>
                          <a:spcPts val="0"/>
                        </a:spcBef>
                        <a:spcAft>
                          <a:spcPts val="0"/>
                        </a:spcAft>
                        <a:buSzPts val="1200"/>
                        <a:buFont typeface="Georgia"/>
                        <a:buChar char="●"/>
                      </a:pPr>
                      <a:r>
                        <a:rPr lang="en" sz="1200">
                          <a:latin typeface="Georgia"/>
                          <a:ea typeface="Georgia"/>
                          <a:cs typeface="Georgia"/>
                          <a:sym typeface="Georgia"/>
                        </a:rPr>
                        <a:t>Popularity Features</a:t>
                      </a:r>
                      <a:endParaRPr sz="1200">
                        <a:latin typeface="Georgia"/>
                        <a:ea typeface="Georgia"/>
                        <a:cs typeface="Georgia"/>
                        <a:sym typeface="Georgia"/>
                      </a:endParaRPr>
                    </a:p>
                  </a:txBody>
                  <a:tcPr marT="63500" marB="63500" marR="63500" marL="635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F0"/>
        </a:solidFill>
      </p:bgPr>
    </p:bg>
    <p:spTree>
      <p:nvGrpSpPr>
        <p:cNvPr id="150" name="Shape 150"/>
        <p:cNvGrpSpPr/>
        <p:nvPr/>
      </p:nvGrpSpPr>
      <p:grpSpPr>
        <a:xfrm>
          <a:off x="0" y="0"/>
          <a:ext cx="0" cy="0"/>
          <a:chOff x="0" y="0"/>
          <a:chExt cx="0" cy="0"/>
        </a:xfrm>
      </p:grpSpPr>
      <p:sp>
        <p:nvSpPr>
          <p:cNvPr id="151" name="Google Shape;151;p33"/>
          <p:cNvSpPr txBox="1"/>
          <p:nvPr/>
        </p:nvSpPr>
        <p:spPr>
          <a:xfrm>
            <a:off x="311760" y="444960"/>
            <a:ext cx="8520000" cy="61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Times New Roman"/>
                <a:ea typeface="Times New Roman"/>
                <a:cs typeface="Times New Roman"/>
                <a:sym typeface="Times New Roman"/>
              </a:rPr>
              <a:t>1.3 Literature Review</a:t>
            </a:r>
            <a:endParaRPr b="0" i="0" sz="3000" u="none" cap="none" strike="noStrike">
              <a:solidFill>
                <a:schemeClr val="dk1"/>
              </a:solidFill>
              <a:latin typeface="Arial"/>
              <a:ea typeface="Arial"/>
              <a:cs typeface="Arial"/>
              <a:sym typeface="Arial"/>
            </a:endParaRPr>
          </a:p>
        </p:txBody>
      </p:sp>
      <p:sp>
        <p:nvSpPr>
          <p:cNvPr id="152" name="Google Shape;152;p33"/>
          <p:cNvSpPr txBox="1"/>
          <p:nvPr/>
        </p:nvSpPr>
        <p:spPr>
          <a:xfrm>
            <a:off x="311750" y="1171451"/>
            <a:ext cx="8520000" cy="36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u="sng">
                <a:solidFill>
                  <a:schemeClr val="dk1"/>
                </a:solidFill>
                <a:latin typeface="Times New Roman"/>
                <a:ea typeface="Times New Roman"/>
                <a:cs typeface="Times New Roman"/>
                <a:sym typeface="Times New Roman"/>
              </a:rPr>
              <a:t>Blacklisting or Heuristic Approaches</a:t>
            </a:r>
            <a:endParaRPr b="1" sz="1200" u="sng">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Blacklisting approaches are a common and classical technique for detecting malicious URLs, which often maintain a list of URLs that are known to be malicious. Whenever a new URL is visited, a database lookup is performed. If the URL is present in the blacklist, it is considered to be malicious and then a warning will be generated; else it is assumed to be benign.</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1200" u="sng">
                <a:solidFill>
                  <a:schemeClr val="dk1"/>
                </a:solidFill>
                <a:latin typeface="Times New Roman"/>
                <a:ea typeface="Times New Roman"/>
                <a:cs typeface="Times New Roman"/>
                <a:sym typeface="Times New Roman"/>
              </a:rPr>
              <a:t>Machine Learning Approaches</a:t>
            </a:r>
            <a:endParaRPr b="1" sz="1200" u="sng">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These approaches try to analyze the information of a URL and its corresponding websites or webpages, by extracting good feature representations of URLs, and training a prediction model on training data of both malicious and benign URLs.</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1200" u="sng">
                <a:solidFill>
                  <a:schemeClr val="dk1"/>
                </a:solidFill>
                <a:latin typeface="Times New Roman"/>
                <a:ea typeface="Times New Roman"/>
                <a:cs typeface="Times New Roman"/>
                <a:sym typeface="Times New Roman"/>
              </a:rPr>
              <a:t>Lexical Features</a:t>
            </a:r>
            <a:endParaRPr b="1" sz="1200" u="sng">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Lexical features are features obtained from the properties of the URL name (or the URL string). The motivation is that based on how the URL "looks" it should be possible to identify the malicious nature of a URL. For example, many obfuscation methods try to "look" like benign URLs by mimicking their names and adding a minor variation to it.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1200" u="sng">
                <a:solidFill>
                  <a:schemeClr val="dk1"/>
                </a:solidFill>
                <a:latin typeface="Times New Roman"/>
                <a:ea typeface="Times New Roman"/>
                <a:cs typeface="Times New Roman"/>
                <a:sym typeface="Times New Roman"/>
              </a:rPr>
              <a:t>Host-based Features </a:t>
            </a:r>
            <a:endParaRPr b="1" sz="1200" u="sng">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Host-based features are obtained from the host-name properties of the URL. They allow us to know the location, identity, and the management style and properties of malicious hosts.</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1200" u="sng">
                <a:solidFill>
                  <a:schemeClr val="dk1"/>
                </a:solidFill>
                <a:latin typeface="Times New Roman"/>
                <a:ea typeface="Times New Roman"/>
                <a:cs typeface="Times New Roman"/>
                <a:sym typeface="Times New Roman"/>
              </a:rPr>
              <a:t>Popularity Features</a:t>
            </a:r>
            <a:endParaRPr b="1" sz="1200" u="sng">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Some other features used were designed as heuristics to measure the popularity of the URL. One of the earliest approaches to applying statistical techniques to detect malicious URLs aimed at probabilistically identifying the importance of specific hand-designed features. These include Page-based features (Page rank, quality, etc.)</a:t>
            </a:r>
            <a:endParaRPr sz="1200">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t/>
            </a:r>
            <a:endParaRPr sz="1200">
              <a:latin typeface="Times New Roman"/>
              <a:ea typeface="Times New Roman"/>
              <a:cs typeface="Times New Roman"/>
              <a:sym typeface="Times New Roman"/>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4"/>
          <p:cNvSpPr txBox="1"/>
          <p:nvPr/>
        </p:nvSpPr>
        <p:spPr>
          <a:xfrm>
            <a:off x="311760" y="444960"/>
            <a:ext cx="8520120" cy="612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3000" u="none" cap="none" strike="noStrike">
                <a:solidFill>
                  <a:srgbClr val="000000"/>
                </a:solidFill>
                <a:latin typeface="Times New Roman"/>
                <a:ea typeface="Times New Roman"/>
                <a:cs typeface="Times New Roman"/>
                <a:sym typeface="Times New Roman"/>
              </a:rPr>
              <a:t>1.4 Problem Definition</a:t>
            </a:r>
            <a:endParaRPr b="0" i="0" sz="3000" u="none" cap="none" strike="noStrike">
              <a:solidFill>
                <a:srgbClr val="000000"/>
              </a:solidFill>
              <a:latin typeface="Arial"/>
              <a:ea typeface="Arial"/>
              <a:cs typeface="Arial"/>
              <a:sym typeface="Arial"/>
            </a:endParaRPr>
          </a:p>
        </p:txBody>
      </p:sp>
      <p:sp>
        <p:nvSpPr>
          <p:cNvPr id="158" name="Google Shape;158;p34"/>
          <p:cNvSpPr txBox="1"/>
          <p:nvPr/>
        </p:nvSpPr>
        <p:spPr>
          <a:xfrm>
            <a:off x="311760" y="1171440"/>
            <a:ext cx="8520120" cy="339696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400"/>
              </a:spcBef>
              <a:spcAft>
                <a:spcPts val="0"/>
              </a:spcAft>
              <a:buNone/>
            </a:pPr>
            <a:r>
              <a:t/>
            </a:r>
            <a:endParaRPr sz="1600">
              <a:solidFill>
                <a:schemeClr val="dk1"/>
              </a:solidFill>
              <a:latin typeface="Lora"/>
              <a:ea typeface="Lora"/>
              <a:cs typeface="Lora"/>
              <a:sym typeface="Lora"/>
            </a:endParaRPr>
          </a:p>
          <a:p>
            <a:pPr indent="-330200" lvl="0" marL="457200" rtl="0" algn="l">
              <a:lnSpc>
                <a:spcPct val="115000"/>
              </a:lnSpc>
              <a:spcBef>
                <a:spcPts val="1400"/>
              </a:spcBef>
              <a:spcAft>
                <a:spcPts val="0"/>
              </a:spcAft>
              <a:buClr>
                <a:schemeClr val="dk1"/>
              </a:buClr>
              <a:buSzPts val="1600"/>
              <a:buFont typeface="Lora"/>
              <a:buChar char="●"/>
            </a:pPr>
            <a:r>
              <a:rPr lang="en" sz="1600">
                <a:solidFill>
                  <a:schemeClr val="dk1"/>
                </a:solidFill>
                <a:latin typeface="Lora"/>
                <a:ea typeface="Lora"/>
                <a:cs typeface="Lora"/>
                <a:sym typeface="Lora"/>
              </a:rPr>
              <a:t>Developing a machine learning model capable of detecting malicious URL’s which will protect the privacy and integrity of sensitive credentials of the users and warning the users about its danger in the form of an interface or a service.</a:t>
            </a:r>
            <a:endParaRPr sz="1600">
              <a:solidFill>
                <a:schemeClr val="dk1"/>
              </a:solidFill>
              <a:latin typeface="Lora"/>
              <a:ea typeface="Lora"/>
              <a:cs typeface="Lora"/>
              <a:sym typeface="Lora"/>
            </a:endParaRPr>
          </a:p>
          <a:p>
            <a:pPr indent="0" lvl="0" marL="0" marR="0" rtl="0" algn="l">
              <a:lnSpc>
                <a:spcPct val="115000"/>
              </a:lnSpc>
              <a:spcBef>
                <a:spcPts val="1000"/>
              </a:spcBef>
              <a:spcAft>
                <a:spcPts val="0"/>
              </a:spcAft>
              <a:buNone/>
            </a:pPr>
            <a:r>
              <a:t/>
            </a:r>
            <a:endParaRPr i="0" sz="1600" u="none" cap="none" strike="noStrike">
              <a:solidFill>
                <a:srgbClr val="000000"/>
              </a:solidFill>
              <a:latin typeface="Lora"/>
              <a:ea typeface="Lora"/>
              <a:cs typeface="Lora"/>
              <a:sym typeface="Lo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5"/>
          <p:cNvSpPr txBox="1"/>
          <p:nvPr/>
        </p:nvSpPr>
        <p:spPr>
          <a:xfrm>
            <a:off x="311760" y="444960"/>
            <a:ext cx="8520120" cy="612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3000" u="none" cap="none" strike="noStrike">
                <a:solidFill>
                  <a:srgbClr val="000000"/>
                </a:solidFill>
                <a:latin typeface="Times New Roman"/>
                <a:ea typeface="Times New Roman"/>
                <a:cs typeface="Times New Roman"/>
                <a:sym typeface="Times New Roman"/>
              </a:rPr>
              <a:t>1.5 Scope</a:t>
            </a:r>
            <a:endParaRPr b="0" i="0" sz="3000" u="none" cap="none" strike="noStrike">
              <a:solidFill>
                <a:srgbClr val="000000"/>
              </a:solidFill>
              <a:latin typeface="Arial"/>
              <a:ea typeface="Arial"/>
              <a:cs typeface="Arial"/>
              <a:sym typeface="Arial"/>
            </a:endParaRPr>
          </a:p>
        </p:txBody>
      </p:sp>
      <p:sp>
        <p:nvSpPr>
          <p:cNvPr id="164" name="Google Shape;164;p35"/>
          <p:cNvSpPr txBox="1"/>
          <p:nvPr/>
        </p:nvSpPr>
        <p:spPr>
          <a:xfrm>
            <a:off x="311760" y="1171440"/>
            <a:ext cx="8520120" cy="3396960"/>
          </a:xfrm>
          <a:prstGeom prst="rect">
            <a:avLst/>
          </a:prstGeom>
          <a:noFill/>
          <a:ln>
            <a:noFill/>
          </a:ln>
        </p:spPr>
        <p:txBody>
          <a:bodyPr anchorCtr="0" anchor="t" bIns="91425" lIns="91425" spcFirstLastPara="1" rIns="91425" wrap="square" tIns="91425">
            <a:noAutofit/>
          </a:bodyPr>
          <a:lstStyle/>
          <a:p>
            <a:pPr indent="-342720" lvl="0" marL="457200" marR="0" rtl="0" algn="l">
              <a:lnSpc>
                <a:spcPct val="115000"/>
              </a:lnSpc>
              <a:spcBef>
                <a:spcPts val="0"/>
              </a:spcBef>
              <a:spcAft>
                <a:spcPts val="0"/>
              </a:spcAft>
              <a:buClr>
                <a:srgbClr val="000000"/>
              </a:buClr>
              <a:buSzPts val="1800"/>
              <a:buFont typeface="Lora"/>
              <a:buChar char="●"/>
            </a:pPr>
            <a:r>
              <a:rPr lang="en" sz="1800">
                <a:latin typeface="Lora"/>
                <a:ea typeface="Lora"/>
                <a:cs typeface="Lora"/>
                <a:sym typeface="Lora"/>
              </a:rPr>
              <a:t>In this model, we further aim to improve our classifiers accuracy so that our model can more accurately classify URLs and eliminate even a minute chance of any breach.</a:t>
            </a:r>
            <a:r>
              <a:rPr i="0" lang="en" sz="1800" u="none" cap="none" strike="noStrike">
                <a:solidFill>
                  <a:srgbClr val="000000"/>
                </a:solidFill>
                <a:latin typeface="Lora"/>
                <a:ea typeface="Lora"/>
                <a:cs typeface="Lora"/>
                <a:sym typeface="Lora"/>
              </a:rPr>
              <a:t>                                </a:t>
            </a:r>
            <a:endParaRPr i="0" sz="1800" u="none" cap="none" strike="noStrike">
              <a:solidFill>
                <a:srgbClr val="000000"/>
              </a:solidFill>
              <a:latin typeface="Lora"/>
              <a:ea typeface="Lora"/>
              <a:cs typeface="Lora"/>
              <a:sym typeface="Lora"/>
            </a:endParaRPr>
          </a:p>
          <a:p>
            <a:pPr indent="-342719" lvl="0" marL="457200" marR="0" rtl="0" algn="l">
              <a:lnSpc>
                <a:spcPct val="115000"/>
              </a:lnSpc>
              <a:spcBef>
                <a:spcPts val="1000"/>
              </a:spcBef>
              <a:spcAft>
                <a:spcPts val="0"/>
              </a:spcAft>
              <a:buClr>
                <a:srgbClr val="000000"/>
              </a:buClr>
              <a:buSzPts val="1800"/>
              <a:buFont typeface="Lora"/>
              <a:buChar char="●"/>
            </a:pPr>
            <a:r>
              <a:rPr lang="en" sz="1800">
                <a:latin typeface="Lora"/>
                <a:ea typeface="Lora"/>
                <a:cs typeface="Lora"/>
                <a:sym typeface="Lora"/>
              </a:rPr>
              <a:t>The functionality of adding this model as a chrome extension will make it a lot more </a:t>
            </a:r>
            <a:r>
              <a:rPr lang="en" sz="1800">
                <a:latin typeface="Lora"/>
                <a:ea typeface="Lora"/>
                <a:cs typeface="Lora"/>
                <a:sym typeface="Lora"/>
              </a:rPr>
              <a:t>responsive and increase its usability. </a:t>
            </a:r>
            <a:r>
              <a:rPr i="0" lang="en" sz="1800" u="none" cap="none" strike="noStrike">
                <a:solidFill>
                  <a:srgbClr val="000000"/>
                </a:solidFill>
                <a:latin typeface="Lora"/>
                <a:ea typeface="Lora"/>
                <a:cs typeface="Lora"/>
                <a:sym typeface="Lora"/>
              </a:rPr>
              <a:t>                     </a:t>
            </a:r>
            <a:endParaRPr i="0" sz="1800" u="none" cap="none" strike="noStrike">
              <a:solidFill>
                <a:srgbClr val="000000"/>
              </a:solidFill>
              <a:latin typeface="Lora"/>
              <a:ea typeface="Lora"/>
              <a:cs typeface="Lora"/>
              <a:sym typeface="L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6"/>
          <p:cNvSpPr txBox="1"/>
          <p:nvPr/>
        </p:nvSpPr>
        <p:spPr>
          <a:xfrm>
            <a:off x="311760" y="444960"/>
            <a:ext cx="8520120" cy="612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3000" u="none" cap="none" strike="noStrike">
                <a:solidFill>
                  <a:srgbClr val="000000"/>
                </a:solidFill>
                <a:latin typeface="Times New Roman"/>
                <a:ea typeface="Times New Roman"/>
                <a:cs typeface="Times New Roman"/>
                <a:sym typeface="Times New Roman"/>
              </a:rPr>
              <a:t>1.</a:t>
            </a:r>
            <a:r>
              <a:rPr b="1" lang="en" sz="3000">
                <a:latin typeface="Times New Roman"/>
                <a:ea typeface="Times New Roman"/>
                <a:cs typeface="Times New Roman"/>
                <a:sym typeface="Times New Roman"/>
              </a:rPr>
              <a:t>6</a:t>
            </a:r>
            <a:r>
              <a:rPr b="1" i="0" lang="en" sz="3000" u="none" cap="none" strike="noStrike">
                <a:solidFill>
                  <a:srgbClr val="000000"/>
                </a:solidFill>
                <a:latin typeface="Times New Roman"/>
                <a:ea typeface="Times New Roman"/>
                <a:cs typeface="Times New Roman"/>
                <a:sym typeface="Times New Roman"/>
              </a:rPr>
              <a:t> Technology stack</a:t>
            </a:r>
            <a:endParaRPr b="0" i="0" sz="3000" u="none" cap="none" strike="noStrike">
              <a:solidFill>
                <a:srgbClr val="000000"/>
              </a:solidFill>
              <a:latin typeface="Arial"/>
              <a:ea typeface="Arial"/>
              <a:cs typeface="Arial"/>
              <a:sym typeface="Arial"/>
            </a:endParaRPr>
          </a:p>
        </p:txBody>
      </p:sp>
      <p:sp>
        <p:nvSpPr>
          <p:cNvPr id="170" name="Google Shape;170;p36"/>
          <p:cNvSpPr txBox="1"/>
          <p:nvPr/>
        </p:nvSpPr>
        <p:spPr>
          <a:xfrm>
            <a:off x="311760" y="1171440"/>
            <a:ext cx="8520120" cy="3396960"/>
          </a:xfrm>
          <a:prstGeom prst="rect">
            <a:avLst/>
          </a:prstGeom>
          <a:noFill/>
          <a:ln>
            <a:noFill/>
          </a:ln>
        </p:spPr>
        <p:txBody>
          <a:bodyPr anchorCtr="0" anchor="t" bIns="91425" lIns="91425" spcFirstLastPara="1" rIns="91425" wrap="square" tIns="91425">
            <a:noAutofit/>
          </a:bodyPr>
          <a:lstStyle/>
          <a:p>
            <a:pPr indent="-323669" lvl="0" marL="457200" marR="0" rtl="0" algn="l">
              <a:lnSpc>
                <a:spcPct val="115000"/>
              </a:lnSpc>
              <a:spcBef>
                <a:spcPts val="0"/>
              </a:spcBef>
              <a:spcAft>
                <a:spcPts val="0"/>
              </a:spcAft>
              <a:buClr>
                <a:srgbClr val="000000"/>
              </a:buClr>
              <a:buSzPts val="1500"/>
              <a:buFont typeface="Old Standard TT"/>
              <a:buChar char="●"/>
            </a:pPr>
            <a:r>
              <a:rPr b="1" lang="en" sz="1500">
                <a:latin typeface="Lora"/>
                <a:ea typeface="Lora"/>
                <a:cs typeface="Lora"/>
                <a:sym typeface="Lora"/>
              </a:rPr>
              <a:t>Python:</a:t>
            </a:r>
            <a:r>
              <a:rPr lang="en" sz="1500">
                <a:latin typeface="Lora"/>
                <a:ea typeface="Lora"/>
                <a:cs typeface="Lora"/>
                <a:sym typeface="Lora"/>
              </a:rPr>
              <a:t> Python is a computer programming language often used to build websites and software, automate tasks, and conduct data analysis. Python is a general purpose language, meaning it can be used to create a variety of different programs and isn’t specialized for any specific problems. This versatility, along with its beginner-friendliness, has made it one of the most-used programming languages today.</a:t>
            </a:r>
            <a:r>
              <a:rPr i="0" lang="en" sz="1500" u="none" cap="none" strike="noStrike">
                <a:solidFill>
                  <a:srgbClr val="000000"/>
                </a:solidFill>
                <a:latin typeface="Lora"/>
                <a:ea typeface="Lora"/>
                <a:cs typeface="Lora"/>
                <a:sym typeface="Lora"/>
              </a:rPr>
              <a:t>                              </a:t>
            </a:r>
            <a:endParaRPr i="0" sz="1500" u="none" cap="none" strike="noStrike">
              <a:solidFill>
                <a:srgbClr val="000000"/>
              </a:solidFill>
              <a:latin typeface="Lora"/>
              <a:ea typeface="Lora"/>
              <a:cs typeface="Lora"/>
              <a:sym typeface="Lora"/>
            </a:endParaRPr>
          </a:p>
          <a:p>
            <a:pPr indent="-323669" lvl="0" marL="457200" marR="0" rtl="0" algn="l">
              <a:lnSpc>
                <a:spcPct val="115000"/>
              </a:lnSpc>
              <a:spcBef>
                <a:spcPts val="0"/>
              </a:spcBef>
              <a:spcAft>
                <a:spcPts val="0"/>
              </a:spcAft>
              <a:buClr>
                <a:srgbClr val="000000"/>
              </a:buClr>
              <a:buSzPts val="1500"/>
              <a:buFont typeface="Old Standard TT"/>
              <a:buChar char="●"/>
            </a:pPr>
            <a:r>
              <a:rPr b="1" lang="en" sz="1500">
                <a:latin typeface="Lora"/>
                <a:ea typeface="Lora"/>
                <a:cs typeface="Lora"/>
                <a:sym typeface="Lora"/>
              </a:rPr>
              <a:t>Sklearn:</a:t>
            </a:r>
            <a:r>
              <a:rPr lang="en" sz="1500">
                <a:latin typeface="Lora"/>
                <a:ea typeface="Lora"/>
                <a:cs typeface="Lora"/>
                <a:sym typeface="Lora"/>
              </a:rPr>
              <a:t> Scikit-learn (Sklearn) is the most useful and robust library for machine learning in Python. It provides a selection of efficient tools for machine learning and statistical modeling including classification, regression, clustering and dimensionality reduction via a consistent interface in Python.</a:t>
            </a:r>
            <a:r>
              <a:rPr i="0" lang="en" sz="1500" u="none" cap="none" strike="noStrike">
                <a:solidFill>
                  <a:srgbClr val="000000"/>
                </a:solidFill>
                <a:latin typeface="Lora"/>
                <a:ea typeface="Lora"/>
                <a:cs typeface="Lora"/>
                <a:sym typeface="Lora"/>
              </a:rPr>
              <a:t> </a:t>
            </a:r>
            <a:endParaRPr i="0" sz="1500" u="none" cap="none" strike="noStrike">
              <a:solidFill>
                <a:srgbClr val="000000"/>
              </a:solidFill>
              <a:latin typeface="Lora"/>
              <a:ea typeface="Lora"/>
              <a:cs typeface="Lora"/>
              <a:sym typeface="Lora"/>
            </a:endParaRPr>
          </a:p>
          <a:p>
            <a:pPr indent="-323669" lvl="0" marL="457200" marR="0" rtl="0" algn="l">
              <a:lnSpc>
                <a:spcPct val="115000"/>
              </a:lnSpc>
              <a:spcBef>
                <a:spcPts val="0"/>
              </a:spcBef>
              <a:spcAft>
                <a:spcPts val="0"/>
              </a:spcAft>
              <a:buClr>
                <a:srgbClr val="000000"/>
              </a:buClr>
              <a:buSzPts val="1500"/>
              <a:buFont typeface="Old Standard TT"/>
              <a:buChar char="●"/>
            </a:pPr>
            <a:r>
              <a:rPr b="1" lang="en" sz="1500">
                <a:latin typeface="Lora"/>
                <a:ea typeface="Lora"/>
                <a:cs typeface="Lora"/>
                <a:sym typeface="Lora"/>
              </a:rPr>
              <a:t>Pandas: </a:t>
            </a:r>
            <a:r>
              <a:rPr lang="en" sz="1500">
                <a:latin typeface="Lora"/>
                <a:ea typeface="Lora"/>
                <a:cs typeface="Lora"/>
                <a:sym typeface="Lora"/>
              </a:rPr>
              <a:t>Pandas is an open-source, licensed Python library providing high-performance, easy-to-use data structures and data analysis tools for the Python programming language.</a:t>
            </a:r>
            <a:r>
              <a:rPr b="1" lang="en" sz="1500">
                <a:latin typeface="Lora"/>
                <a:ea typeface="Lora"/>
                <a:cs typeface="Lora"/>
                <a:sym typeface="Lora"/>
              </a:rPr>
              <a:t> </a:t>
            </a:r>
            <a:r>
              <a:rPr i="0" lang="en" sz="1500" u="none" cap="none" strike="noStrike">
                <a:solidFill>
                  <a:srgbClr val="000000"/>
                </a:solidFill>
                <a:latin typeface="Lora"/>
                <a:ea typeface="Lora"/>
                <a:cs typeface="Lora"/>
                <a:sym typeface="Lora"/>
              </a:rPr>
              <a:t>                                               </a:t>
            </a:r>
            <a:endParaRPr i="0" sz="1500" u="none" cap="none" strike="noStrike">
              <a:solidFill>
                <a:srgbClr val="000000"/>
              </a:solidFill>
              <a:latin typeface="Lora"/>
              <a:ea typeface="Lora"/>
              <a:cs typeface="Lora"/>
              <a:sym typeface="Lora"/>
            </a:endParaRPr>
          </a:p>
          <a:p>
            <a:pPr indent="0" lvl="0" marL="0" marR="0" rtl="0" algn="l">
              <a:lnSpc>
                <a:spcPct val="115000"/>
              </a:lnSpc>
              <a:spcBef>
                <a:spcPts val="0"/>
              </a:spcBef>
              <a:spcAft>
                <a:spcPts val="0"/>
              </a:spcAft>
              <a:buNone/>
            </a:pPr>
            <a:r>
              <a:t/>
            </a:r>
            <a:endParaRPr i="0" sz="1500" u="none" cap="none" strike="noStrike">
              <a:solidFill>
                <a:srgbClr val="000000"/>
              </a:solidFill>
              <a:latin typeface="Lora"/>
              <a:ea typeface="Lora"/>
              <a:cs typeface="Lora"/>
              <a:sym typeface="L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7"/>
          <p:cNvSpPr txBox="1"/>
          <p:nvPr/>
        </p:nvSpPr>
        <p:spPr>
          <a:xfrm>
            <a:off x="311760" y="444960"/>
            <a:ext cx="8520120" cy="612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3000" u="none" cap="none" strike="noStrike">
                <a:solidFill>
                  <a:srgbClr val="000000"/>
                </a:solidFill>
                <a:latin typeface="Times New Roman"/>
                <a:ea typeface="Times New Roman"/>
                <a:cs typeface="Times New Roman"/>
                <a:sym typeface="Times New Roman"/>
              </a:rPr>
              <a:t>1.</a:t>
            </a:r>
            <a:r>
              <a:rPr b="1" lang="en" sz="3000">
                <a:latin typeface="Times New Roman"/>
                <a:ea typeface="Times New Roman"/>
                <a:cs typeface="Times New Roman"/>
                <a:sym typeface="Times New Roman"/>
              </a:rPr>
              <a:t>7</a:t>
            </a:r>
            <a:r>
              <a:rPr b="1" i="0" lang="en" sz="3000" u="none" cap="none" strike="noStrike">
                <a:solidFill>
                  <a:srgbClr val="000000"/>
                </a:solidFill>
                <a:latin typeface="Times New Roman"/>
                <a:ea typeface="Times New Roman"/>
                <a:cs typeface="Times New Roman"/>
                <a:sym typeface="Times New Roman"/>
              </a:rPr>
              <a:t> Benefits for environment &amp; Society</a:t>
            </a:r>
            <a:endParaRPr b="0" i="0" sz="3000" u="none" cap="none" strike="noStrike">
              <a:solidFill>
                <a:srgbClr val="000000"/>
              </a:solidFill>
              <a:latin typeface="Arial"/>
              <a:ea typeface="Arial"/>
              <a:cs typeface="Arial"/>
              <a:sym typeface="Arial"/>
            </a:endParaRPr>
          </a:p>
        </p:txBody>
      </p:sp>
      <p:sp>
        <p:nvSpPr>
          <p:cNvPr id="176" name="Google Shape;176;p37"/>
          <p:cNvSpPr txBox="1"/>
          <p:nvPr/>
        </p:nvSpPr>
        <p:spPr>
          <a:xfrm>
            <a:off x="311760" y="1171440"/>
            <a:ext cx="8520120" cy="339696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400"/>
              </a:spcBef>
              <a:spcAft>
                <a:spcPts val="0"/>
              </a:spcAft>
              <a:buSzPts val="1600"/>
              <a:buFont typeface="Lora"/>
              <a:buChar char="●"/>
            </a:pPr>
            <a:r>
              <a:rPr lang="en" sz="1600">
                <a:solidFill>
                  <a:schemeClr val="dk1"/>
                </a:solidFill>
                <a:latin typeface="Lora"/>
                <a:ea typeface="Lora"/>
                <a:cs typeface="Lora"/>
                <a:sym typeface="Lora"/>
              </a:rPr>
              <a:t>Malicious URL detection using machine learning can have immense real-world applications. However, it is nontrivial to make it work in practice. Several researchers have proposed architectures for building end-to-end malicious URL Detection systems and deployed them for real-world utilities.</a:t>
            </a:r>
            <a:endParaRPr sz="1600">
              <a:solidFill>
                <a:schemeClr val="dk1"/>
              </a:solidFill>
              <a:latin typeface="Lora"/>
              <a:ea typeface="Lora"/>
              <a:cs typeface="Lora"/>
              <a:sym typeface="Lora"/>
            </a:endParaRPr>
          </a:p>
          <a:p>
            <a:pPr indent="-330200" lvl="0" marL="457200" rtl="0" algn="l">
              <a:lnSpc>
                <a:spcPct val="115000"/>
              </a:lnSpc>
              <a:spcBef>
                <a:spcPts val="1000"/>
              </a:spcBef>
              <a:spcAft>
                <a:spcPts val="0"/>
              </a:spcAft>
              <a:buSzPts val="1600"/>
              <a:buFont typeface="Lora"/>
              <a:buChar char="●"/>
            </a:pPr>
            <a:r>
              <a:rPr lang="en" sz="1600">
                <a:solidFill>
                  <a:schemeClr val="dk1"/>
                </a:solidFill>
                <a:latin typeface="Lora"/>
                <a:ea typeface="Lora"/>
                <a:cs typeface="Lora"/>
                <a:sym typeface="Lora"/>
              </a:rPr>
              <a:t>Malicious URL detector has many real time applications . One of the main advantage of using these url detectors is to protect your system from phishing and various cyber attacks.This detection using machine learning is more useful for the people from non technical background who find it hard to differentiate between those scam and legitimate websites.</a:t>
            </a:r>
            <a:endParaRPr sz="1600">
              <a:solidFill>
                <a:schemeClr val="dk1"/>
              </a:solidFill>
              <a:latin typeface="Lora"/>
              <a:ea typeface="Lora"/>
              <a:cs typeface="Lora"/>
              <a:sym typeface="Lora"/>
            </a:endParaRPr>
          </a:p>
          <a:p>
            <a:pPr indent="0" lvl="0" marL="457200" marR="0" rtl="0" algn="l">
              <a:lnSpc>
                <a:spcPct val="115000"/>
              </a:lnSpc>
              <a:spcBef>
                <a:spcPts val="1400"/>
              </a:spcBef>
              <a:spcAft>
                <a:spcPts val="0"/>
              </a:spcAft>
              <a:buNone/>
            </a:pPr>
            <a:r>
              <a:rPr i="0" lang="en" sz="1600" u="none" cap="none" strike="noStrike">
                <a:solidFill>
                  <a:srgbClr val="000000"/>
                </a:solidFill>
                <a:latin typeface="Lora"/>
                <a:ea typeface="Lora"/>
                <a:cs typeface="Lora"/>
                <a:sym typeface="Lora"/>
              </a:rPr>
              <a:t>     </a:t>
            </a:r>
            <a:endParaRPr i="0" sz="1600" u="none" cap="none" strike="noStrike">
              <a:solidFill>
                <a:srgbClr val="000000"/>
              </a:solidFill>
              <a:latin typeface="Lora"/>
              <a:ea typeface="Lora"/>
              <a:cs typeface="Lora"/>
              <a:sym typeface="Lora"/>
            </a:endParaRPr>
          </a:p>
          <a:p>
            <a:pPr indent="0" lvl="0" marL="0" marR="0" rtl="0" algn="l">
              <a:lnSpc>
                <a:spcPct val="115000"/>
              </a:lnSpc>
              <a:spcBef>
                <a:spcPts val="0"/>
              </a:spcBef>
              <a:spcAft>
                <a:spcPts val="0"/>
              </a:spcAft>
              <a:buNone/>
            </a:pPr>
            <a:r>
              <a:t/>
            </a:r>
            <a:endParaRPr i="0" sz="1600" u="none" cap="none" strike="noStrike">
              <a:solidFill>
                <a:srgbClr val="000000"/>
              </a:solidFill>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8"/>
          <p:cNvSpPr txBox="1"/>
          <p:nvPr/>
        </p:nvSpPr>
        <p:spPr>
          <a:xfrm>
            <a:off x="446800" y="130775"/>
            <a:ext cx="4119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chemeClr val="dk1"/>
                </a:solidFill>
                <a:latin typeface="Times New Roman"/>
                <a:ea typeface="Times New Roman"/>
                <a:cs typeface="Times New Roman"/>
                <a:sym typeface="Times New Roman"/>
              </a:rPr>
              <a:t>1.8 Data Flow Diagram</a:t>
            </a:r>
            <a:endParaRPr sz="3000">
              <a:solidFill>
                <a:schemeClr val="dk1"/>
              </a:solidFill>
            </a:endParaRPr>
          </a:p>
        </p:txBody>
      </p:sp>
      <p:pic>
        <p:nvPicPr>
          <p:cNvPr id="182" name="Google Shape;182;p38"/>
          <p:cNvPicPr preferRelativeResize="0"/>
          <p:nvPr/>
        </p:nvPicPr>
        <p:blipFill>
          <a:blip r:embed="rId3">
            <a:alphaModFix/>
          </a:blip>
          <a:stretch>
            <a:fillRect/>
          </a:stretch>
        </p:blipFill>
        <p:spPr>
          <a:xfrm>
            <a:off x="381400" y="904475"/>
            <a:ext cx="8499851" cy="3792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9"/>
          <p:cNvSpPr txBox="1"/>
          <p:nvPr/>
        </p:nvSpPr>
        <p:spPr>
          <a:xfrm>
            <a:off x="311760" y="444960"/>
            <a:ext cx="8520000" cy="61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3000" u="none" cap="none" strike="noStrike">
                <a:solidFill>
                  <a:srgbClr val="000000"/>
                </a:solidFill>
                <a:latin typeface="Times New Roman"/>
                <a:ea typeface="Times New Roman"/>
                <a:cs typeface="Times New Roman"/>
                <a:sym typeface="Times New Roman"/>
              </a:rPr>
              <a:t>1.</a:t>
            </a:r>
            <a:r>
              <a:rPr b="1" lang="en" sz="3000">
                <a:latin typeface="Times New Roman"/>
                <a:ea typeface="Times New Roman"/>
                <a:cs typeface="Times New Roman"/>
                <a:sym typeface="Times New Roman"/>
              </a:rPr>
              <a:t>9</a:t>
            </a:r>
            <a:r>
              <a:rPr b="1" i="0" lang="en" sz="3000" u="none" cap="none" strike="noStrike">
                <a:solidFill>
                  <a:srgbClr val="000000"/>
                </a:solidFill>
                <a:latin typeface="Times New Roman"/>
                <a:ea typeface="Times New Roman"/>
                <a:cs typeface="Times New Roman"/>
                <a:sym typeface="Times New Roman"/>
              </a:rPr>
              <a:t> </a:t>
            </a:r>
            <a:r>
              <a:rPr b="1" lang="en" sz="3000">
                <a:latin typeface="Times New Roman"/>
                <a:ea typeface="Times New Roman"/>
                <a:cs typeface="Times New Roman"/>
                <a:sym typeface="Times New Roman"/>
              </a:rPr>
              <a:t>Output Snippets</a:t>
            </a:r>
            <a:endParaRPr b="0" i="0" sz="3000" u="none" cap="none" strike="noStrike">
              <a:solidFill>
                <a:srgbClr val="000000"/>
              </a:solidFill>
              <a:latin typeface="Arial"/>
              <a:ea typeface="Arial"/>
              <a:cs typeface="Arial"/>
              <a:sym typeface="Arial"/>
            </a:endParaRPr>
          </a:p>
        </p:txBody>
      </p:sp>
      <p:sp>
        <p:nvSpPr>
          <p:cNvPr id="188" name="Google Shape;188;p39"/>
          <p:cNvSpPr txBox="1"/>
          <p:nvPr/>
        </p:nvSpPr>
        <p:spPr>
          <a:xfrm>
            <a:off x="311760" y="1171440"/>
            <a:ext cx="8520000" cy="3396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i="0" sz="1800" u="none" cap="none" strike="noStrike">
              <a:solidFill>
                <a:srgbClr val="000000"/>
              </a:solidFill>
              <a:latin typeface="Lora"/>
              <a:ea typeface="Lora"/>
              <a:cs typeface="Lora"/>
              <a:sym typeface="Lora"/>
            </a:endParaRPr>
          </a:p>
        </p:txBody>
      </p:sp>
      <p:pic>
        <p:nvPicPr>
          <p:cNvPr id="189" name="Google Shape;189;p39"/>
          <p:cNvPicPr preferRelativeResize="0"/>
          <p:nvPr/>
        </p:nvPicPr>
        <p:blipFill>
          <a:blip r:embed="rId3">
            <a:alphaModFix/>
          </a:blip>
          <a:stretch>
            <a:fillRect/>
          </a:stretch>
        </p:blipFill>
        <p:spPr>
          <a:xfrm>
            <a:off x="413513" y="1171450"/>
            <a:ext cx="8316474" cy="1773750"/>
          </a:xfrm>
          <a:prstGeom prst="rect">
            <a:avLst/>
          </a:prstGeom>
          <a:noFill/>
          <a:ln>
            <a:noFill/>
          </a:ln>
        </p:spPr>
      </p:pic>
      <p:pic>
        <p:nvPicPr>
          <p:cNvPr id="190" name="Google Shape;190;p39"/>
          <p:cNvPicPr preferRelativeResize="0"/>
          <p:nvPr/>
        </p:nvPicPr>
        <p:blipFill>
          <a:blip r:embed="rId4">
            <a:alphaModFix/>
          </a:blip>
          <a:stretch>
            <a:fillRect/>
          </a:stretch>
        </p:blipFill>
        <p:spPr>
          <a:xfrm>
            <a:off x="1514475" y="3145563"/>
            <a:ext cx="6115050" cy="1724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0"/>
          <p:cNvSpPr txBox="1"/>
          <p:nvPr/>
        </p:nvSpPr>
        <p:spPr>
          <a:xfrm>
            <a:off x="512640" y="1893240"/>
            <a:ext cx="8118360" cy="152244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 sz="4200" u="none" cap="none" strike="noStrike">
                <a:solidFill>
                  <a:srgbClr val="FFFBF0"/>
                </a:solidFill>
                <a:latin typeface="Times New Roman"/>
                <a:ea typeface="Times New Roman"/>
                <a:cs typeface="Times New Roman"/>
                <a:sym typeface="Times New Roman"/>
              </a:rPr>
              <a:t>Thank You</a:t>
            </a:r>
            <a:endParaRPr b="0" i="0" sz="4200" u="none" cap="none" strike="noStrike">
              <a:solidFill>
                <a:srgbClr val="000000"/>
              </a:solidFill>
              <a:latin typeface="Arial"/>
              <a:ea typeface="Arial"/>
              <a:cs typeface="Arial"/>
              <a:sym typeface="Arial"/>
            </a:endParaRPr>
          </a:p>
        </p:txBody>
      </p:sp>
      <p:sp>
        <p:nvSpPr>
          <p:cNvPr id="196" name="Google Shape;196;p40"/>
          <p:cNvSpPr txBox="1"/>
          <p:nvPr/>
        </p:nvSpPr>
        <p:spPr>
          <a:xfrm>
            <a:off x="512640" y="3840480"/>
            <a:ext cx="8118360" cy="78732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b="0" i="0" sz="3200" u="none" cap="none"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